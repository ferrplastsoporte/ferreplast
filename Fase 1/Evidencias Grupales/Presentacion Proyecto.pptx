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Public Sans" charset="1" panose="00000000000000000000"/>
      <p:regular r:id="rId22"/>
    </p:embeddedFont>
    <p:embeddedFont>
      <p:font typeface="Arial Nova Bold" charset="1" panose="020B0804020202020204"/>
      <p:regular r:id="rId23"/>
    </p:embeddedFont>
    <p:embeddedFont>
      <p:font typeface="Montaser Arabic" charset="1" panose="00000500000000000000"/>
      <p:regular r:id="rId24"/>
    </p:embeddedFont>
    <p:embeddedFont>
      <p:font typeface="Raleway Bold" charset="1" panose="00000000000000000000"/>
      <p:regular r:id="rId25"/>
    </p:embeddedFont>
    <p:embeddedFont>
      <p:font typeface="Public Sans Bold" charset="1" panose="00000000000000000000"/>
      <p:regular r:id="rId26"/>
    </p:embeddedFont>
    <p:embeddedFont>
      <p:font typeface="Arial Nova" charset="1" panose="020B0504020202020204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13.png" Type="http://schemas.openxmlformats.org/officeDocument/2006/relationships/image"/><Relationship Id="rId6" Target="../media/image14.jpeg" Type="http://schemas.openxmlformats.org/officeDocument/2006/relationships/image"/><Relationship Id="rId7" Target="../media/image15.png" Type="http://schemas.openxmlformats.org/officeDocument/2006/relationships/image"/><Relationship Id="rId8" Target="../media/image1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7.png" Type="http://schemas.openxmlformats.org/officeDocument/2006/relationships/image"/><Relationship Id="rId5" Target="../media/image1.png" Type="http://schemas.openxmlformats.org/officeDocument/2006/relationships/image"/><Relationship Id="rId6" Target="../media/image2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8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20.png" Type="http://schemas.openxmlformats.org/officeDocument/2006/relationships/image"/><Relationship Id="rId6" Target="../media/image14.jpeg" Type="http://schemas.openxmlformats.org/officeDocument/2006/relationships/image"/><Relationship Id="rId7" Target="../media/image15.png" Type="http://schemas.openxmlformats.org/officeDocument/2006/relationships/image"/><Relationship Id="rId8" Target="../media/image1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1.png" Type="http://schemas.openxmlformats.org/officeDocument/2006/relationships/image"/><Relationship Id="rId7" Target="../media/image2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24.png" Type="http://schemas.openxmlformats.org/officeDocument/2006/relationships/image"/><Relationship Id="rId6" Target="../media/image14.jpeg" Type="http://schemas.openxmlformats.org/officeDocument/2006/relationships/image"/><Relationship Id="rId7" Target="../media/image15.png" Type="http://schemas.openxmlformats.org/officeDocument/2006/relationships/image"/><Relationship Id="rId8" Target="../media/image16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2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26.png" Type="http://schemas.openxmlformats.org/officeDocument/2006/relationships/image"/><Relationship Id="rId5" Target="../media/image15.png" Type="http://schemas.openxmlformats.org/officeDocument/2006/relationships/image"/><Relationship Id="rId6" Target="../media/image16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1.png" Type="http://schemas.openxmlformats.org/officeDocument/2006/relationships/image"/><Relationship Id="rId7" Target="../media/image2.svg" Type="http://schemas.openxmlformats.org/officeDocument/2006/relationships/image"/><Relationship Id="rId8" Target="../media/image27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28.pn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29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30.png" Type="http://schemas.openxmlformats.org/officeDocument/2006/relationships/image"/><Relationship Id="rId7" Target="../media/image3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7.png" Type="http://schemas.openxmlformats.org/officeDocument/2006/relationships/image"/><Relationship Id="rId5" Target="../media/image32.png" Type="http://schemas.openxmlformats.org/officeDocument/2006/relationships/image"/><Relationship Id="rId6" Target="../media/image3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D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703621" y="5905500"/>
            <a:ext cx="6055305" cy="6055305"/>
          </a:xfrm>
          <a:custGeom>
            <a:avLst/>
            <a:gdLst/>
            <a:ahLst/>
            <a:cxnLst/>
            <a:rect r="r" b="b" t="t" l="l"/>
            <a:pathLst>
              <a:path h="6055305" w="6055305">
                <a:moveTo>
                  <a:pt x="0" y="0"/>
                </a:moveTo>
                <a:lnTo>
                  <a:pt x="6055305" y="0"/>
                </a:lnTo>
                <a:lnTo>
                  <a:pt x="6055305" y="6055305"/>
                </a:lnTo>
                <a:lnTo>
                  <a:pt x="0" y="60553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8493649" y="-316837"/>
            <a:ext cx="10183529" cy="10920675"/>
          </a:xfrm>
          <a:custGeom>
            <a:avLst/>
            <a:gdLst/>
            <a:ahLst/>
            <a:cxnLst/>
            <a:rect r="r" b="b" t="t" l="l"/>
            <a:pathLst>
              <a:path h="10920675" w="10183529">
                <a:moveTo>
                  <a:pt x="10183529" y="0"/>
                </a:moveTo>
                <a:lnTo>
                  <a:pt x="0" y="0"/>
                </a:lnTo>
                <a:lnTo>
                  <a:pt x="0" y="10920674"/>
                </a:lnTo>
                <a:lnTo>
                  <a:pt x="10183529" y="10920674"/>
                </a:lnTo>
                <a:lnTo>
                  <a:pt x="10183529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553550" y="-1976148"/>
            <a:ext cx="9945298" cy="7881648"/>
          </a:xfrm>
          <a:custGeom>
            <a:avLst/>
            <a:gdLst/>
            <a:ahLst/>
            <a:cxnLst/>
            <a:rect r="r" b="b" t="t" l="l"/>
            <a:pathLst>
              <a:path h="7881648" w="9945298">
                <a:moveTo>
                  <a:pt x="0" y="0"/>
                </a:moveTo>
                <a:lnTo>
                  <a:pt x="9945298" y="0"/>
                </a:lnTo>
                <a:lnTo>
                  <a:pt x="9945298" y="7881648"/>
                </a:lnTo>
                <a:lnTo>
                  <a:pt x="0" y="788164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052041" y="790698"/>
            <a:ext cx="12079739" cy="3963140"/>
          </a:xfrm>
          <a:custGeom>
            <a:avLst/>
            <a:gdLst/>
            <a:ahLst/>
            <a:cxnLst/>
            <a:rect r="r" b="b" t="t" l="l"/>
            <a:pathLst>
              <a:path h="3963140" w="12079739">
                <a:moveTo>
                  <a:pt x="0" y="0"/>
                </a:moveTo>
                <a:lnTo>
                  <a:pt x="12079739" y="0"/>
                </a:lnTo>
                <a:lnTo>
                  <a:pt x="12079739" y="3963139"/>
                </a:lnTo>
                <a:lnTo>
                  <a:pt x="0" y="39631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76892" y="7372686"/>
            <a:ext cx="10932187" cy="152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9"/>
              </a:lnSpc>
            </a:pPr>
            <a:r>
              <a:rPr lang="en-US" sz="216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Plataforma Web de Ventas y Gestión</a:t>
            </a:r>
          </a:p>
          <a:p>
            <a:pPr algn="l" marL="0" indent="0" lvl="0">
              <a:lnSpc>
                <a:spcPts val="3029"/>
              </a:lnSpc>
            </a:pPr>
            <a:r>
              <a:rPr lang="en-US" sz="216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Proyecto APT – Capstone | Ingeniería en Informática – Duoc UC Puerto Montt</a:t>
            </a:r>
          </a:p>
          <a:p>
            <a:pPr algn="l" marL="0" indent="0" lvl="0">
              <a:lnSpc>
                <a:spcPts val="3029"/>
              </a:lnSpc>
            </a:pPr>
            <a:r>
              <a:rPr lang="en-US" sz="216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Integrantes: Ricardo Ojeda, Kevin Vivanco</a:t>
            </a:r>
          </a:p>
          <a:p>
            <a:pPr algn="l" marL="0" indent="0" lvl="0">
              <a:lnSpc>
                <a:spcPts val="3029"/>
              </a:lnSpc>
            </a:pPr>
            <a:r>
              <a:rPr lang="en-US" sz="216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Contraparte: Erwin Fiente – Ferreplast |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D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575753" y="0"/>
            <a:ext cx="7569370" cy="10287000"/>
            <a:chOff x="0" y="0"/>
            <a:chExt cx="1291123" cy="17546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91123" cy="1754675"/>
            </a:xfrm>
            <a:custGeom>
              <a:avLst/>
              <a:gdLst/>
              <a:ahLst/>
              <a:cxnLst/>
              <a:rect r="r" b="b" t="t" l="l"/>
              <a:pathLst>
                <a:path h="1754675" w="1291123">
                  <a:moveTo>
                    <a:pt x="0" y="0"/>
                  </a:moveTo>
                  <a:lnTo>
                    <a:pt x="1291123" y="0"/>
                  </a:lnTo>
                  <a:lnTo>
                    <a:pt x="1291123" y="1754675"/>
                  </a:lnTo>
                  <a:lnTo>
                    <a:pt x="0" y="1754675"/>
                  </a:lnTo>
                  <a:close/>
                </a:path>
              </a:pathLst>
            </a:custGeom>
            <a:blipFill>
              <a:blip r:embed="rId2"/>
              <a:stretch>
                <a:fillRect l="-34769" t="0" r="-136697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true" flipV="false" rot="0">
            <a:off x="8463092" y="-684759"/>
            <a:ext cx="3245157" cy="2571787"/>
          </a:xfrm>
          <a:custGeom>
            <a:avLst/>
            <a:gdLst/>
            <a:ahLst/>
            <a:cxnLst/>
            <a:rect r="r" b="b" t="t" l="l"/>
            <a:pathLst>
              <a:path h="2571787" w="324515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3860966" y="9417622"/>
            <a:ext cx="6150882" cy="6596120"/>
          </a:xfrm>
          <a:custGeom>
            <a:avLst/>
            <a:gdLst/>
            <a:ahLst/>
            <a:cxnLst/>
            <a:rect r="r" b="b" t="t" l="l"/>
            <a:pathLst>
              <a:path h="6596120" w="6150882">
                <a:moveTo>
                  <a:pt x="6150882" y="0"/>
                </a:moveTo>
                <a:lnTo>
                  <a:pt x="0" y="0"/>
                </a:lnTo>
                <a:lnTo>
                  <a:pt x="0" y="6596119"/>
                </a:lnTo>
                <a:lnTo>
                  <a:pt x="6150882" y="6596119"/>
                </a:lnTo>
                <a:lnTo>
                  <a:pt x="6150882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334412"/>
            <a:ext cx="5750650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50"/>
              </a:lnSpc>
            </a:pPr>
            <a:r>
              <a:rPr lang="en-US" b="true" sz="750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Descripción</a:t>
            </a:r>
          </a:p>
          <a:p>
            <a:pPr algn="l" marL="0" indent="0" lvl="0">
              <a:lnSpc>
                <a:spcPts val="8250"/>
              </a:lnSpc>
            </a:pPr>
            <a:r>
              <a:rPr lang="en-US" b="true" sz="750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y relevancia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608787"/>
            <a:ext cx="9254439" cy="2451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49"/>
              </a:lnSpc>
            </a:pPr>
            <a:r>
              <a:rPr lang="en-US" sz="1899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 es una microempresa ubicada en Puerto Montt dedicada a la venta de productos de ferretería y resina epóxica. Actualmente cuenta con un sitio web estático con catálogo limitado, sin gestión de productos ni procesos digitales integrados.</a:t>
            </a:r>
          </a:p>
          <a:p>
            <a:pPr algn="l" marL="0" indent="0" lvl="0">
              <a:lnSpc>
                <a:spcPts val="2849"/>
              </a:lnSpc>
            </a:pPr>
            <a:r>
              <a:rPr lang="en-US" sz="1899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Las cotizaciones se realizan por WhatsApp y los procesos de venta son manuales, lo que genera ineficiencias operativas y dependencia de un desarrollador externo para cualquier actualización.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50767" y="6222447"/>
            <a:ext cx="9254439" cy="24515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49"/>
              </a:lnSpc>
            </a:pPr>
            <a:r>
              <a:rPr lang="en-US" sz="1899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Problemas identificados: catálogo digital limitado, gestión manual de productos, cotizaciones informales, procesos separados y sin trazabilidad, y alta dependencia técnica externa.</a:t>
            </a:r>
          </a:p>
          <a:p>
            <a:pPr algn="l" marL="0" indent="0" lvl="0">
              <a:lnSpc>
                <a:spcPts val="2849"/>
              </a:lnSpc>
            </a:pPr>
          </a:p>
          <a:p>
            <a:pPr algn="l" marL="0" indent="0" lvl="0">
              <a:lnSpc>
                <a:spcPts val="2849"/>
              </a:lnSpc>
            </a:pPr>
            <a:r>
              <a:rPr lang="en-US" sz="1899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Propuesta: Desarrollar una plataforma web integral que centralice ventas, gestión de productos, cotizaciones, pedidos y administración, mejorando la experiencia del cliente y la eficiencia operativa de Ferreplast.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2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6637826" y="-442204"/>
            <a:ext cx="14096415" cy="11171409"/>
          </a:xfrm>
          <a:custGeom>
            <a:avLst/>
            <a:gdLst/>
            <a:ahLst/>
            <a:cxnLst/>
            <a:rect r="r" b="b" t="t" l="l"/>
            <a:pathLst>
              <a:path h="11171409" w="14096415">
                <a:moveTo>
                  <a:pt x="0" y="11171408"/>
                </a:moveTo>
                <a:lnTo>
                  <a:pt x="14096415" y="11171408"/>
                </a:lnTo>
                <a:lnTo>
                  <a:pt x="14096415" y="0"/>
                </a:lnTo>
                <a:lnTo>
                  <a:pt x="0" y="0"/>
                </a:lnTo>
                <a:lnTo>
                  <a:pt x="0" y="1117140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460131" y="1536649"/>
            <a:ext cx="8732113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79"/>
              </a:lnSpc>
              <a:spcBef>
                <a:spcPct val="0"/>
              </a:spcBef>
            </a:pPr>
            <a:r>
              <a:rPr lang="en-US" b="true" sz="5649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Problemática → Solución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460131" y="3374441"/>
            <a:ext cx="9254439" cy="2646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Comparativa entre la situación actual de Ferreplast y la solución propuesta mediante la plataforma web integral.</a:t>
            </a:r>
          </a:p>
          <a:p>
            <a:pPr algn="l" marL="0" indent="0" lvl="0">
              <a:lnSpc>
                <a:spcPts val="2698"/>
              </a:lnSpc>
            </a:pPr>
          </a:p>
          <a:p>
            <a:pPr algn="l" marL="0" indent="0" lvl="0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Catálogo limitado  →  ✅ Catálogo dinámico</a:t>
            </a:r>
          </a:p>
          <a:p>
            <a:pPr algn="l" marL="0" indent="0" lvl="0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Gestión manual  →  ✅ Gestión automatizada</a:t>
            </a:r>
          </a:p>
          <a:p>
            <a:pPr algn="l" marL="0" indent="0" lvl="0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Cotizaciones por WhatsApp  →  ✅ Sistema integrado</a:t>
            </a:r>
          </a:p>
          <a:p>
            <a:pPr algn="l" marL="0" indent="0" lvl="0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Procesos separados  →  ✅ Plataforma unificada</a:t>
            </a:r>
          </a:p>
          <a:p>
            <a:pPr algn="l" marL="0" indent="0" lvl="0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Dependencia del desarrollador  →  ✅ Autonomía operativa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460131" y="6420536"/>
            <a:ext cx="7251860" cy="756382"/>
            <a:chOff x="0" y="0"/>
            <a:chExt cx="3554357" cy="37072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Problemática actual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460131" y="7411518"/>
            <a:ext cx="7251860" cy="756382"/>
            <a:chOff x="0" y="0"/>
            <a:chExt cx="3554357" cy="3707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Solución propuesta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460131" y="8402499"/>
            <a:ext cx="7251860" cy="756382"/>
            <a:chOff x="0" y="0"/>
            <a:chExt cx="3554357" cy="37072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Impacto esperado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true" flipV="true" rot="0">
            <a:off x="15711991" y="0"/>
            <a:ext cx="5005096" cy="5367395"/>
          </a:xfrm>
          <a:custGeom>
            <a:avLst/>
            <a:gdLst/>
            <a:ahLst/>
            <a:cxnLst/>
            <a:rect r="r" b="b" t="t" l="l"/>
            <a:pathLst>
              <a:path h="5367395" w="5005096">
                <a:moveTo>
                  <a:pt x="5005096" y="5367395"/>
                </a:moveTo>
                <a:lnTo>
                  <a:pt x="0" y="5367395"/>
                </a:lnTo>
                <a:lnTo>
                  <a:pt x="0" y="0"/>
                </a:lnTo>
                <a:lnTo>
                  <a:pt x="5005096" y="0"/>
                </a:lnTo>
                <a:lnTo>
                  <a:pt x="5005096" y="536739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78743" y="4039397"/>
            <a:ext cx="7211553" cy="4494228"/>
          </a:xfrm>
          <a:custGeom>
            <a:avLst/>
            <a:gdLst/>
            <a:ahLst/>
            <a:cxnLst/>
            <a:rect r="r" b="b" t="t" l="l"/>
            <a:pathLst>
              <a:path h="4494228" w="7211553">
                <a:moveTo>
                  <a:pt x="0" y="0"/>
                </a:moveTo>
                <a:lnTo>
                  <a:pt x="7211553" y="0"/>
                </a:lnTo>
                <a:lnTo>
                  <a:pt x="7211553" y="4494228"/>
                </a:lnTo>
                <a:lnTo>
                  <a:pt x="0" y="44942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2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825096" y="2328197"/>
            <a:ext cx="6483940" cy="4536441"/>
            <a:chOff x="0" y="0"/>
            <a:chExt cx="1251752" cy="87577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51752" cy="875779"/>
            </a:xfrm>
            <a:custGeom>
              <a:avLst/>
              <a:gdLst/>
              <a:ahLst/>
              <a:cxnLst/>
              <a:rect r="r" b="b" t="t" l="l"/>
              <a:pathLst>
                <a:path h="875779" w="1251752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9661"/>
                  </a:lnTo>
                  <a:cubicBezTo>
                    <a:pt x="1251752" y="850654"/>
                    <a:pt x="1226627" y="875779"/>
                    <a:pt x="1195634" y="875779"/>
                  </a:cubicBezTo>
                  <a:lnTo>
                    <a:pt x="56119" y="875779"/>
                  </a:lnTo>
                  <a:cubicBezTo>
                    <a:pt x="25125" y="875779"/>
                    <a:pt x="0" y="850654"/>
                    <a:pt x="0" y="81966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14" r="0" b="-114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true" flipV="false" rot="0">
            <a:off x="3622506" y="8832418"/>
            <a:ext cx="3245157" cy="2571787"/>
          </a:xfrm>
          <a:custGeom>
            <a:avLst/>
            <a:gdLst/>
            <a:ahLst/>
            <a:cxnLst/>
            <a:rect r="r" b="b" t="t" l="l"/>
            <a:pathLst>
              <a:path h="2571787" w="324515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825096" y="7264753"/>
            <a:ext cx="6483940" cy="4506345"/>
            <a:chOff x="0" y="0"/>
            <a:chExt cx="1251752" cy="86996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51752" cy="869969"/>
            </a:xfrm>
            <a:custGeom>
              <a:avLst/>
              <a:gdLst/>
              <a:ahLst/>
              <a:cxnLst/>
              <a:rect r="r" b="b" t="t" l="l"/>
              <a:pathLst>
                <a:path h="869969" w="1251752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3851"/>
                  </a:lnTo>
                  <a:cubicBezTo>
                    <a:pt x="1251752" y="844844"/>
                    <a:pt x="1226627" y="869969"/>
                    <a:pt x="1195634" y="869969"/>
                  </a:cubicBezTo>
                  <a:lnTo>
                    <a:pt x="56119" y="869969"/>
                  </a:lnTo>
                  <a:cubicBezTo>
                    <a:pt x="25125" y="869969"/>
                    <a:pt x="0" y="844844"/>
                    <a:pt x="0" y="81385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449" r="0" b="-449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-825096" y="-2371621"/>
            <a:ext cx="6483940" cy="4325773"/>
            <a:chOff x="0" y="0"/>
            <a:chExt cx="1251752" cy="83510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51752" cy="835109"/>
            </a:xfrm>
            <a:custGeom>
              <a:avLst/>
              <a:gdLst/>
              <a:ahLst/>
              <a:cxnLst/>
              <a:rect r="r" b="b" t="t" l="l"/>
              <a:pathLst>
                <a:path h="835109" w="1251752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6"/>
              <a:stretch>
                <a:fillRect l="-1717" t="0" r="-1717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6867664" y="1762514"/>
            <a:ext cx="7986915" cy="660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10"/>
              </a:lnSpc>
            </a:pPr>
            <a:r>
              <a:rPr lang="en-US" b="true" sz="4236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Relación con el perfil de egreso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521241" y="2851902"/>
            <a:ext cx="11472064" cy="17228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55"/>
              </a:lnSpc>
            </a:pPr>
            <a:r>
              <a:rPr lang="en-US" sz="2187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El proyecto Ferreplast abarca seis competencias del perfil de egreso: Desarrollo de Software, Bases de Datos,  Levantamiento de Requisitos, Gestión Ágil (Scrum), Calidad y Seguridad, y Buenas Prácticas. El proyecto permite aplicar estas competencias en un contexto real con un cliente.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867664" y="6094074"/>
            <a:ext cx="7251860" cy="756382"/>
            <a:chOff x="0" y="0"/>
            <a:chExt cx="3554357" cy="37072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Desarrollo de Software y BD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67664" y="7085055"/>
            <a:ext cx="7251860" cy="756382"/>
            <a:chOff x="0" y="0"/>
            <a:chExt cx="3554357" cy="37072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Requisitos y Gestión Ágil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867664" y="8076037"/>
            <a:ext cx="7251860" cy="756382"/>
            <a:chOff x="0" y="0"/>
            <a:chExt cx="3554357" cy="37072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Calidad, Seguridad y Buenas Prácticas</a:t>
              </a:r>
            </a:p>
          </p:txBody>
        </p:sp>
      </p:grpSp>
      <p:sp>
        <p:nvSpPr>
          <p:cNvPr name="Freeform 20" id="20"/>
          <p:cNvSpPr/>
          <p:nvPr/>
        </p:nvSpPr>
        <p:spPr>
          <a:xfrm flipH="true" flipV="false" rot="0">
            <a:off x="15423137" y="-617635"/>
            <a:ext cx="3245157" cy="2571787"/>
          </a:xfrm>
          <a:custGeom>
            <a:avLst/>
            <a:gdLst/>
            <a:ahLst/>
            <a:cxnLst/>
            <a:rect r="r" b="b" t="t" l="l"/>
            <a:pathLst>
              <a:path h="2571787" w="324515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5423137" y="6231970"/>
            <a:ext cx="4444516" cy="4444516"/>
          </a:xfrm>
          <a:custGeom>
            <a:avLst/>
            <a:gdLst/>
            <a:ahLst/>
            <a:cxnLst/>
            <a:rect r="r" b="b" t="t" l="l"/>
            <a:pathLst>
              <a:path h="4444516" w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D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686005"/>
            <a:ext cx="7986915" cy="87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49"/>
              </a:lnSpc>
            </a:pPr>
            <a:r>
              <a:rPr lang="en-US" b="true" sz="5649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Intereses Profesionales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0351740" y="-884409"/>
            <a:ext cx="14096415" cy="11171409"/>
          </a:xfrm>
          <a:custGeom>
            <a:avLst/>
            <a:gdLst/>
            <a:ahLst/>
            <a:cxnLst/>
            <a:rect r="r" b="b" t="t" l="l"/>
            <a:pathLst>
              <a:path h="11171409" w="14096415">
                <a:moveTo>
                  <a:pt x="0" y="0"/>
                </a:moveTo>
                <a:lnTo>
                  <a:pt x="14096415" y="0"/>
                </a:lnTo>
                <a:lnTo>
                  <a:pt x="14096415" y="11171409"/>
                </a:lnTo>
                <a:lnTo>
                  <a:pt x="0" y="111714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2240748" y="1005798"/>
            <a:ext cx="5018552" cy="8252502"/>
            <a:chOff x="0" y="0"/>
            <a:chExt cx="777505" cy="127852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77505" cy="1278529"/>
            </a:xfrm>
            <a:custGeom>
              <a:avLst/>
              <a:gdLst/>
              <a:ahLst/>
              <a:cxnLst/>
              <a:rect r="r" b="b" t="t" l="l"/>
              <a:pathLst>
                <a:path h="1278529" w="777505">
                  <a:moveTo>
                    <a:pt x="259308" y="19070"/>
                  </a:moveTo>
                  <a:cubicBezTo>
                    <a:pt x="299040" y="7556"/>
                    <a:pt x="344486" y="0"/>
                    <a:pt x="388962" y="0"/>
                  </a:cubicBezTo>
                  <a:cubicBezTo>
                    <a:pt x="433440" y="0"/>
                    <a:pt x="476238" y="6476"/>
                    <a:pt x="515679" y="17990"/>
                  </a:cubicBezTo>
                  <a:cubicBezTo>
                    <a:pt x="516519" y="18350"/>
                    <a:pt x="517358" y="18350"/>
                    <a:pt x="518197" y="18710"/>
                  </a:cubicBezTo>
                  <a:cubicBezTo>
                    <a:pt x="666313" y="64765"/>
                    <a:pt x="775407" y="186379"/>
                    <a:pt x="777505" y="338847"/>
                  </a:cubicBezTo>
                  <a:lnTo>
                    <a:pt x="777505" y="1178256"/>
                  </a:lnTo>
                  <a:cubicBezTo>
                    <a:pt x="777505" y="1204850"/>
                    <a:pt x="766941" y="1230354"/>
                    <a:pt x="748136" y="1249159"/>
                  </a:cubicBezTo>
                  <a:cubicBezTo>
                    <a:pt x="729331" y="1267964"/>
                    <a:pt x="703826" y="1278529"/>
                    <a:pt x="677232" y="1278529"/>
                  </a:cubicBezTo>
                  <a:lnTo>
                    <a:pt x="100273" y="1278529"/>
                  </a:lnTo>
                  <a:cubicBezTo>
                    <a:pt x="73679" y="1278529"/>
                    <a:pt x="48174" y="1267964"/>
                    <a:pt x="29369" y="1249159"/>
                  </a:cubicBezTo>
                  <a:cubicBezTo>
                    <a:pt x="10564" y="1230354"/>
                    <a:pt x="0" y="1204850"/>
                    <a:pt x="0" y="1178256"/>
                  </a:cubicBezTo>
                  <a:lnTo>
                    <a:pt x="0" y="339545"/>
                  </a:lnTo>
                  <a:cubicBezTo>
                    <a:pt x="2098" y="185660"/>
                    <a:pt x="109514" y="64045"/>
                    <a:pt x="259308" y="19070"/>
                  </a:cubicBezTo>
                  <a:lnTo>
                    <a:pt x="259308" y="19070"/>
                  </a:lnTo>
                  <a:close/>
                </a:path>
              </a:pathLst>
            </a:custGeom>
            <a:blipFill>
              <a:blip r:embed="rId4"/>
              <a:stretch>
                <a:fillRect l="0" t="-571" r="0" b="-571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3201425"/>
            <a:ext cx="8857389" cy="2451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Ricardo Ojeda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Desarrollo de software fullstack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Backend y bases de datos relacionales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Integración de servicios y APIs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Coordinación de equipo y cliente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Toma de decisiones técnicas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Experiencia de usuario final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6005585"/>
            <a:ext cx="8857389" cy="2451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Kevin Vivanco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Desarrollo de software fullstack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Backend y bases de datos relacionales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Integración de módulos del sistema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Autenticación y control de acceso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Aplicación práctica de conocimientos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Gestión de roles y permisos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9144000" y="8224375"/>
            <a:ext cx="2702505" cy="2702505"/>
          </a:xfrm>
          <a:custGeom>
            <a:avLst/>
            <a:gdLst/>
            <a:ahLst/>
            <a:cxnLst/>
            <a:rect r="r" b="b" t="t" l="l"/>
            <a:pathLst>
              <a:path h="2702505" w="2702505">
                <a:moveTo>
                  <a:pt x="0" y="0"/>
                </a:moveTo>
                <a:lnTo>
                  <a:pt x="2702505" y="0"/>
                </a:lnTo>
                <a:lnTo>
                  <a:pt x="2702505" y="2702505"/>
                </a:lnTo>
                <a:lnTo>
                  <a:pt x="0" y="270250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28700" y="-884409"/>
            <a:ext cx="2141965" cy="2141965"/>
          </a:xfrm>
          <a:custGeom>
            <a:avLst/>
            <a:gdLst/>
            <a:ahLst/>
            <a:cxnLst/>
            <a:rect r="r" b="b" t="t" l="l"/>
            <a:pathLst>
              <a:path h="2141965" w="2141965">
                <a:moveTo>
                  <a:pt x="0" y="0"/>
                </a:moveTo>
                <a:lnTo>
                  <a:pt x="2141965" y="0"/>
                </a:lnTo>
                <a:lnTo>
                  <a:pt x="2141965" y="2141965"/>
                </a:lnTo>
                <a:lnTo>
                  <a:pt x="0" y="214196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2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6637826" y="-442204"/>
            <a:ext cx="14096415" cy="11171409"/>
          </a:xfrm>
          <a:custGeom>
            <a:avLst/>
            <a:gdLst/>
            <a:ahLst/>
            <a:cxnLst/>
            <a:rect r="r" b="b" t="t" l="l"/>
            <a:pathLst>
              <a:path h="11171409" w="14096415">
                <a:moveTo>
                  <a:pt x="0" y="11171408"/>
                </a:moveTo>
                <a:lnTo>
                  <a:pt x="14096415" y="11171408"/>
                </a:lnTo>
                <a:lnTo>
                  <a:pt x="14096415" y="0"/>
                </a:lnTo>
                <a:lnTo>
                  <a:pt x="0" y="0"/>
                </a:lnTo>
                <a:lnTo>
                  <a:pt x="0" y="1117140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79943" y="1005798"/>
            <a:ext cx="5018552" cy="8252502"/>
            <a:chOff x="0" y="0"/>
            <a:chExt cx="777505" cy="127852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77505" cy="1278529"/>
            </a:xfrm>
            <a:custGeom>
              <a:avLst/>
              <a:gdLst/>
              <a:ahLst/>
              <a:cxnLst/>
              <a:rect r="r" b="b" t="t" l="l"/>
              <a:pathLst>
                <a:path h="1278529" w="777505">
                  <a:moveTo>
                    <a:pt x="259308" y="19070"/>
                  </a:moveTo>
                  <a:cubicBezTo>
                    <a:pt x="299040" y="7556"/>
                    <a:pt x="344486" y="0"/>
                    <a:pt x="388962" y="0"/>
                  </a:cubicBezTo>
                  <a:cubicBezTo>
                    <a:pt x="433440" y="0"/>
                    <a:pt x="476238" y="6476"/>
                    <a:pt x="515679" y="17990"/>
                  </a:cubicBezTo>
                  <a:cubicBezTo>
                    <a:pt x="516519" y="18350"/>
                    <a:pt x="517358" y="18350"/>
                    <a:pt x="518197" y="18710"/>
                  </a:cubicBezTo>
                  <a:cubicBezTo>
                    <a:pt x="666313" y="64765"/>
                    <a:pt x="775407" y="186379"/>
                    <a:pt x="777505" y="338847"/>
                  </a:cubicBezTo>
                  <a:lnTo>
                    <a:pt x="777505" y="1178256"/>
                  </a:lnTo>
                  <a:cubicBezTo>
                    <a:pt x="777505" y="1204850"/>
                    <a:pt x="766941" y="1230354"/>
                    <a:pt x="748136" y="1249159"/>
                  </a:cubicBezTo>
                  <a:cubicBezTo>
                    <a:pt x="729331" y="1267964"/>
                    <a:pt x="703826" y="1278529"/>
                    <a:pt x="677232" y="1278529"/>
                  </a:cubicBezTo>
                  <a:lnTo>
                    <a:pt x="100273" y="1278529"/>
                  </a:lnTo>
                  <a:cubicBezTo>
                    <a:pt x="73679" y="1278529"/>
                    <a:pt x="48174" y="1267964"/>
                    <a:pt x="29369" y="1249159"/>
                  </a:cubicBezTo>
                  <a:cubicBezTo>
                    <a:pt x="10564" y="1230354"/>
                    <a:pt x="0" y="1204850"/>
                    <a:pt x="0" y="1178256"/>
                  </a:cubicBezTo>
                  <a:lnTo>
                    <a:pt x="0" y="339545"/>
                  </a:lnTo>
                  <a:cubicBezTo>
                    <a:pt x="2098" y="185660"/>
                    <a:pt x="109514" y="64045"/>
                    <a:pt x="259308" y="19070"/>
                  </a:cubicBezTo>
                  <a:lnTo>
                    <a:pt x="259308" y="19070"/>
                  </a:lnTo>
                  <a:close/>
                </a:path>
              </a:pathLst>
            </a:custGeom>
            <a:blipFill>
              <a:blip r:embed="rId4"/>
              <a:stretch>
                <a:fillRect l="0" t="-571" r="0" b="-57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8460131" y="1527124"/>
            <a:ext cx="8732113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829"/>
              </a:lnSpc>
              <a:spcBef>
                <a:spcPct val="0"/>
              </a:spcBef>
            </a:pPr>
            <a:r>
              <a:rPr lang="en-US" b="true" sz="569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Factibilidad del proyecto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578061" y="3517612"/>
            <a:ext cx="10636478" cy="2364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27"/>
              </a:lnSpc>
            </a:pPr>
            <a:r>
              <a:rPr lang="en-US" sz="181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El proyecto Ferreplast es viable en cuatro dimensiones clave:</a:t>
            </a:r>
          </a:p>
          <a:p>
            <a:pPr algn="l" marL="0" indent="0" lvl="0">
              <a:lnSpc>
                <a:spcPts val="2727"/>
              </a:lnSpc>
            </a:pPr>
            <a:r>
              <a:rPr lang="en-US" sz="181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Técnica: Stack familiar (React, Vite, Supabase) con herramientas modernas y de fácil integración.</a:t>
            </a:r>
          </a:p>
          <a:p>
            <a:pPr algn="l" marL="0" indent="0" lvl="0">
              <a:lnSpc>
                <a:spcPts val="2727"/>
              </a:lnSpc>
            </a:pPr>
            <a:r>
              <a:rPr lang="en-US" sz="181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Académica: Los requisitos son abordables con las competencias adquiridas en la carrera.</a:t>
            </a:r>
          </a:p>
          <a:p>
            <a:pPr algn="l" marL="0" indent="0" lvl="0">
              <a:lnSpc>
                <a:spcPts val="2727"/>
              </a:lnSpc>
            </a:pPr>
            <a:r>
              <a:rPr lang="en-US" sz="181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Operativa: Cliente real (Erwin Fuentes – Ferreplast) con necesidad concreta y disponibilidad activa.</a:t>
            </a:r>
          </a:p>
          <a:p>
            <a:pPr algn="l" marL="0" indent="0" lvl="0">
              <a:lnSpc>
                <a:spcPts val="2727"/>
              </a:lnSpc>
            </a:pPr>
            <a:r>
              <a:rPr lang="en-US" sz="181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Gestión: Organización con GitHub y Jira  para trazabilidad y seguimiento.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460131" y="6420536"/>
            <a:ext cx="7251860" cy="756382"/>
            <a:chOff x="0" y="0"/>
            <a:chExt cx="3554357" cy="37072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Técnica y Académica confirmadas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460131" y="7411518"/>
            <a:ext cx="7251860" cy="756382"/>
            <a:chOff x="0" y="0"/>
            <a:chExt cx="3554357" cy="37072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Operativa: cliente real activo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460131" y="8402499"/>
            <a:ext cx="7251860" cy="756382"/>
            <a:chOff x="0" y="0"/>
            <a:chExt cx="3554357" cy="37072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Viable en contexto Capstone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true" flipV="true" rot="0">
            <a:off x="15711991" y="0"/>
            <a:ext cx="5005096" cy="5367395"/>
          </a:xfrm>
          <a:custGeom>
            <a:avLst/>
            <a:gdLst/>
            <a:ahLst/>
            <a:cxnLst/>
            <a:rect r="r" b="b" t="t" l="l"/>
            <a:pathLst>
              <a:path h="5367395" w="5005096">
                <a:moveTo>
                  <a:pt x="5005096" y="5367395"/>
                </a:moveTo>
                <a:lnTo>
                  <a:pt x="0" y="5367395"/>
                </a:lnTo>
                <a:lnTo>
                  <a:pt x="0" y="0"/>
                </a:lnTo>
                <a:lnTo>
                  <a:pt x="5005096" y="0"/>
                </a:lnTo>
                <a:lnTo>
                  <a:pt x="5005096" y="5367395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2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825096" y="2328197"/>
            <a:ext cx="6483940" cy="4536441"/>
            <a:chOff x="0" y="0"/>
            <a:chExt cx="1251752" cy="87577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51752" cy="875779"/>
            </a:xfrm>
            <a:custGeom>
              <a:avLst/>
              <a:gdLst/>
              <a:ahLst/>
              <a:cxnLst/>
              <a:rect r="r" b="b" t="t" l="l"/>
              <a:pathLst>
                <a:path h="875779" w="1251752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9661"/>
                  </a:lnTo>
                  <a:cubicBezTo>
                    <a:pt x="1251752" y="850654"/>
                    <a:pt x="1226627" y="875779"/>
                    <a:pt x="1195634" y="875779"/>
                  </a:cubicBezTo>
                  <a:lnTo>
                    <a:pt x="56119" y="875779"/>
                  </a:lnTo>
                  <a:cubicBezTo>
                    <a:pt x="25125" y="875779"/>
                    <a:pt x="0" y="850654"/>
                    <a:pt x="0" y="81966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14" r="0" b="-114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true" flipV="false" rot="0">
            <a:off x="3622506" y="8832418"/>
            <a:ext cx="3245157" cy="2571787"/>
          </a:xfrm>
          <a:custGeom>
            <a:avLst/>
            <a:gdLst/>
            <a:ahLst/>
            <a:cxnLst/>
            <a:rect r="r" b="b" t="t" l="l"/>
            <a:pathLst>
              <a:path h="2571787" w="324515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825096" y="7264753"/>
            <a:ext cx="6483940" cy="4506345"/>
            <a:chOff x="0" y="0"/>
            <a:chExt cx="1251752" cy="86996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51752" cy="869969"/>
            </a:xfrm>
            <a:custGeom>
              <a:avLst/>
              <a:gdLst/>
              <a:ahLst/>
              <a:cxnLst/>
              <a:rect r="r" b="b" t="t" l="l"/>
              <a:pathLst>
                <a:path h="869969" w="1251752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3851"/>
                  </a:lnTo>
                  <a:cubicBezTo>
                    <a:pt x="1251752" y="844844"/>
                    <a:pt x="1226627" y="869969"/>
                    <a:pt x="1195634" y="869969"/>
                  </a:cubicBezTo>
                  <a:lnTo>
                    <a:pt x="56119" y="869969"/>
                  </a:lnTo>
                  <a:cubicBezTo>
                    <a:pt x="25125" y="869969"/>
                    <a:pt x="0" y="844844"/>
                    <a:pt x="0" y="81385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449" r="0" b="-449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-825096" y="-2371621"/>
            <a:ext cx="6483940" cy="4325773"/>
            <a:chOff x="0" y="0"/>
            <a:chExt cx="1251752" cy="83510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51752" cy="835109"/>
            </a:xfrm>
            <a:custGeom>
              <a:avLst/>
              <a:gdLst/>
              <a:ahLst/>
              <a:cxnLst/>
              <a:rect r="r" b="b" t="t" l="l"/>
              <a:pathLst>
                <a:path h="835109" w="1251752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6"/>
              <a:stretch>
                <a:fillRect l="-1717" t="0" r="-1717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6867664" y="1762514"/>
            <a:ext cx="7986915" cy="9110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238"/>
              </a:lnSpc>
            </a:pPr>
            <a:r>
              <a:rPr lang="en-US" b="true" sz="5885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Objetivos del proyecto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867664" y="3292784"/>
            <a:ext cx="8370026" cy="9381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1"/>
              </a:lnSpc>
            </a:pPr>
            <a:r>
              <a:rPr lang="en-US" sz="1595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Desarrollar una plataforma web integral de ventas y gestión para Ferreplast, que permita administrar productos, clientes, cotizaciones, pedidos y procesos operativos, mejorando la eficiencia del negocio y la experiencia del usuario.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867664" y="6094074"/>
            <a:ext cx="7251860" cy="756382"/>
            <a:chOff x="0" y="0"/>
            <a:chExt cx="3554357" cy="37072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Analizar requisitos y diseñar arquitectura &amp; BD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67664" y="7085055"/>
            <a:ext cx="7251860" cy="756382"/>
            <a:chOff x="0" y="0"/>
            <a:chExt cx="3554357" cy="37072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Implementar auth, catálogo, carrito y pedidos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867664" y="8076037"/>
            <a:ext cx="7251860" cy="756382"/>
            <a:chOff x="0" y="0"/>
            <a:chExt cx="3554357" cy="37072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Integrar pagos, vistas por rol y validación</a:t>
              </a:r>
            </a:p>
          </p:txBody>
        </p:sp>
      </p:grpSp>
      <p:sp>
        <p:nvSpPr>
          <p:cNvPr name="Freeform 20" id="20"/>
          <p:cNvSpPr/>
          <p:nvPr/>
        </p:nvSpPr>
        <p:spPr>
          <a:xfrm flipH="true" flipV="false" rot="0">
            <a:off x="15423137" y="-617635"/>
            <a:ext cx="3245157" cy="2571787"/>
          </a:xfrm>
          <a:custGeom>
            <a:avLst/>
            <a:gdLst/>
            <a:ahLst/>
            <a:cxnLst/>
            <a:rect r="r" b="b" t="t" l="l"/>
            <a:pathLst>
              <a:path h="2571787" w="324515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5423137" y="6231970"/>
            <a:ext cx="4444516" cy="4444516"/>
          </a:xfrm>
          <a:custGeom>
            <a:avLst/>
            <a:gdLst/>
            <a:ahLst/>
            <a:cxnLst/>
            <a:rect r="r" b="b" t="t" l="l"/>
            <a:pathLst>
              <a:path h="4444516" w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D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470966" y="-884409"/>
            <a:ext cx="9954375" cy="7888842"/>
          </a:xfrm>
          <a:custGeom>
            <a:avLst/>
            <a:gdLst/>
            <a:ahLst/>
            <a:cxnLst/>
            <a:rect r="r" b="b" t="t" l="l"/>
            <a:pathLst>
              <a:path h="7888842" w="9954375">
                <a:moveTo>
                  <a:pt x="0" y="0"/>
                </a:moveTo>
                <a:lnTo>
                  <a:pt x="9954376" y="0"/>
                </a:lnTo>
                <a:lnTo>
                  <a:pt x="9954376" y="7888842"/>
                </a:lnTo>
                <a:lnTo>
                  <a:pt x="0" y="7888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2541505"/>
            <a:ext cx="6933889" cy="11384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34"/>
              </a:lnSpc>
            </a:pPr>
            <a:r>
              <a:rPr lang="en-US" b="true" sz="3686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Metodología de trabajo – Scrum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741894" y="3909449"/>
            <a:ext cx="10506687" cy="4151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27"/>
              </a:lnSpc>
              <a:spcBef>
                <a:spcPct val="0"/>
              </a:spcBef>
            </a:pPr>
            <a:r>
              <a:rPr lang="en-US" sz="281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Planificación → Sprint → Desarrollo → Sprint → Pruebas → Validación → Retroalimentación → Nuevo Sprint</a:t>
            </a:r>
          </a:p>
          <a:p>
            <a:pPr algn="l" marL="0" indent="0" lvl="0">
              <a:lnSpc>
                <a:spcPts val="4227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4227"/>
              </a:lnSpc>
              <a:spcBef>
                <a:spcPct val="0"/>
              </a:spcBef>
            </a:pPr>
            <a:r>
              <a:rPr lang="en-US" sz="281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• Trabajo incremental dividido en sprints cortos</a:t>
            </a:r>
          </a:p>
          <a:p>
            <a:pPr algn="l" marL="0" indent="0" lvl="0">
              <a:lnSpc>
                <a:spcPts val="4227"/>
              </a:lnSpc>
              <a:spcBef>
                <a:spcPct val="0"/>
              </a:spcBef>
            </a:pPr>
            <a:r>
              <a:rPr lang="en-US" sz="281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• Priorización del backlog con el cliente</a:t>
            </a:r>
          </a:p>
          <a:p>
            <a:pPr algn="l" marL="0" indent="0" lvl="0">
              <a:lnSpc>
                <a:spcPts val="4227"/>
              </a:lnSpc>
              <a:spcBef>
                <a:spcPct val="0"/>
              </a:spcBef>
            </a:pPr>
            <a:r>
              <a:rPr lang="en-US" sz="281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• Seguimiento continuo de avances</a:t>
            </a:r>
          </a:p>
          <a:p>
            <a:pPr algn="l" marL="0" indent="0" lvl="0">
              <a:lnSpc>
                <a:spcPts val="4227"/>
              </a:lnSpc>
              <a:spcBef>
                <a:spcPct val="0"/>
              </a:spcBef>
            </a:pPr>
            <a:r>
              <a:rPr lang="en-US" sz="281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• Validación con Erwin Fuentes (Ferreplast)</a:t>
            </a:r>
          </a:p>
          <a:p>
            <a:pPr algn="l" marL="0" indent="0" lvl="0">
              <a:lnSpc>
                <a:spcPts val="4227"/>
              </a:lnSpc>
              <a:spcBef>
                <a:spcPct val="0"/>
              </a:spcBef>
            </a:pPr>
            <a:r>
              <a:rPr lang="en-US" sz="281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• Mejora continua en cada iteración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5400000">
            <a:off x="-7060326" y="8175077"/>
            <a:ext cx="10287000" cy="8152447"/>
          </a:xfrm>
          <a:custGeom>
            <a:avLst/>
            <a:gdLst/>
            <a:ahLst/>
            <a:cxnLst/>
            <a:rect r="r" b="b" t="t" l="l"/>
            <a:pathLst>
              <a:path h="8152447" w="10287000">
                <a:moveTo>
                  <a:pt x="0" y="0"/>
                </a:moveTo>
                <a:lnTo>
                  <a:pt x="10287000" y="0"/>
                </a:lnTo>
                <a:lnTo>
                  <a:pt x="10287000" y="8152448"/>
                </a:lnTo>
                <a:lnTo>
                  <a:pt x="0" y="815244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866307" y="-1103282"/>
            <a:ext cx="3244737" cy="3244737"/>
          </a:xfrm>
          <a:custGeom>
            <a:avLst/>
            <a:gdLst/>
            <a:ahLst/>
            <a:cxnLst/>
            <a:rect r="r" b="b" t="t" l="l"/>
            <a:pathLst>
              <a:path h="3244737" w="3244737">
                <a:moveTo>
                  <a:pt x="0" y="0"/>
                </a:moveTo>
                <a:lnTo>
                  <a:pt x="3244737" y="0"/>
                </a:lnTo>
                <a:lnTo>
                  <a:pt x="3244737" y="3244737"/>
                </a:lnTo>
                <a:lnTo>
                  <a:pt x="0" y="32447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2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825096" y="2328197"/>
            <a:ext cx="6483940" cy="4536441"/>
            <a:chOff x="0" y="0"/>
            <a:chExt cx="1251752" cy="87577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51752" cy="875779"/>
            </a:xfrm>
            <a:custGeom>
              <a:avLst/>
              <a:gdLst/>
              <a:ahLst/>
              <a:cxnLst/>
              <a:rect r="r" b="b" t="t" l="l"/>
              <a:pathLst>
                <a:path h="875779" w="1251752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9661"/>
                  </a:lnTo>
                  <a:cubicBezTo>
                    <a:pt x="1251752" y="850654"/>
                    <a:pt x="1226627" y="875779"/>
                    <a:pt x="1195634" y="875779"/>
                  </a:cubicBezTo>
                  <a:lnTo>
                    <a:pt x="56119" y="875779"/>
                  </a:lnTo>
                  <a:cubicBezTo>
                    <a:pt x="25125" y="875779"/>
                    <a:pt x="0" y="850654"/>
                    <a:pt x="0" y="81966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14" r="0" b="-114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true" flipV="false" rot="0">
            <a:off x="3622506" y="8832418"/>
            <a:ext cx="3245157" cy="2571787"/>
          </a:xfrm>
          <a:custGeom>
            <a:avLst/>
            <a:gdLst/>
            <a:ahLst/>
            <a:cxnLst/>
            <a:rect r="r" b="b" t="t" l="l"/>
            <a:pathLst>
              <a:path h="2571787" w="324515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825096" y="7264753"/>
            <a:ext cx="6483940" cy="4506345"/>
            <a:chOff x="0" y="0"/>
            <a:chExt cx="1251752" cy="86996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51752" cy="869969"/>
            </a:xfrm>
            <a:custGeom>
              <a:avLst/>
              <a:gdLst/>
              <a:ahLst/>
              <a:cxnLst/>
              <a:rect r="r" b="b" t="t" l="l"/>
              <a:pathLst>
                <a:path h="869969" w="1251752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3851"/>
                  </a:lnTo>
                  <a:cubicBezTo>
                    <a:pt x="1251752" y="844844"/>
                    <a:pt x="1226627" y="869969"/>
                    <a:pt x="1195634" y="869969"/>
                  </a:cubicBezTo>
                  <a:lnTo>
                    <a:pt x="56119" y="869969"/>
                  </a:lnTo>
                  <a:cubicBezTo>
                    <a:pt x="25125" y="869969"/>
                    <a:pt x="0" y="844844"/>
                    <a:pt x="0" y="81385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449" r="0" b="-449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-825096" y="-2371621"/>
            <a:ext cx="6483940" cy="4325773"/>
            <a:chOff x="0" y="0"/>
            <a:chExt cx="1251752" cy="83510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51752" cy="835109"/>
            </a:xfrm>
            <a:custGeom>
              <a:avLst/>
              <a:gdLst/>
              <a:ahLst/>
              <a:cxnLst/>
              <a:rect r="r" b="b" t="t" l="l"/>
              <a:pathLst>
                <a:path h="835109" w="1251752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6"/>
              <a:stretch>
                <a:fillRect l="-1717" t="0" r="-1717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6867664" y="1762514"/>
            <a:ext cx="7986915" cy="8553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55"/>
              </a:lnSpc>
            </a:pPr>
            <a:r>
              <a:rPr lang="en-US" b="true" sz="5492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Herramientas de trabajo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66074" y="2995821"/>
            <a:ext cx="9288515" cy="3496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17"/>
              </a:lnSpc>
            </a:pPr>
            <a:r>
              <a:rPr lang="en-US" sz="1972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El proyecto utiliza un stack tecnológico moderno y accesible. Las herramientas fueron seleccionadas por su compatibilidad, facilidad de integración y alineación con las competencias adquiridas durante la carrera.</a:t>
            </a:r>
          </a:p>
          <a:p>
            <a:pPr algn="l" marL="0" indent="0" lvl="0">
              <a:lnSpc>
                <a:spcPts val="3117"/>
              </a:lnSpc>
            </a:pPr>
            <a:r>
              <a:rPr lang="en-US" sz="1972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Frontend: React + Vite + CSS</a:t>
            </a:r>
          </a:p>
          <a:p>
            <a:pPr algn="l" marL="0" indent="0" lvl="0">
              <a:lnSpc>
                <a:spcPts val="3117"/>
              </a:lnSpc>
            </a:pPr>
            <a:r>
              <a:rPr lang="en-US" sz="1972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Backend/DB: Supabase </a:t>
            </a:r>
          </a:p>
          <a:p>
            <a:pPr algn="l" marL="0" indent="0" lvl="0">
              <a:lnSpc>
                <a:spcPts val="3117"/>
              </a:lnSpc>
            </a:pPr>
            <a:r>
              <a:rPr lang="en-US" sz="1972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Control de versiones: GitHub + GitHub Desktop</a:t>
            </a:r>
          </a:p>
          <a:p>
            <a:pPr algn="l" marL="0" indent="0" lvl="0">
              <a:lnSpc>
                <a:spcPts val="3117"/>
              </a:lnSpc>
            </a:pPr>
            <a:r>
              <a:rPr lang="en-US" sz="1972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Gestión: Jira </a:t>
            </a:r>
          </a:p>
          <a:p>
            <a:pPr algn="l" marL="0" indent="0" lvl="0">
              <a:lnSpc>
                <a:spcPts val="3117"/>
              </a:lnSpc>
            </a:pPr>
            <a:r>
              <a:rPr lang="en-US" sz="1972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Desarrollo: Visual Studio Code</a:t>
            </a:r>
          </a:p>
          <a:p>
            <a:pPr algn="l" marL="0" indent="0" lvl="0">
              <a:lnSpc>
                <a:spcPts val="3117"/>
              </a:lnSpc>
            </a:pPr>
            <a:r>
              <a:rPr lang="en-US" sz="1972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Presentación: PowerPoint / Canva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7127439" y="6779581"/>
            <a:ext cx="7251860" cy="756382"/>
            <a:chOff x="0" y="0"/>
            <a:chExt cx="3554357" cy="37072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React · Vite · Tailwind CSS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7127439" y="7770563"/>
            <a:ext cx="7251860" cy="756382"/>
            <a:chOff x="0" y="0"/>
            <a:chExt cx="3554357" cy="37072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Supabase · GitHub · Jira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127439" y="8761544"/>
            <a:ext cx="7251860" cy="756382"/>
            <a:chOff x="0" y="0"/>
            <a:chExt cx="3554357" cy="37072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VS Code · MS Project · Canva</a:t>
              </a:r>
            </a:p>
          </p:txBody>
        </p:sp>
      </p:grpSp>
      <p:sp>
        <p:nvSpPr>
          <p:cNvPr name="Freeform 20" id="20"/>
          <p:cNvSpPr/>
          <p:nvPr/>
        </p:nvSpPr>
        <p:spPr>
          <a:xfrm flipH="true" flipV="false" rot="0">
            <a:off x="15423137" y="-617635"/>
            <a:ext cx="3245157" cy="2571787"/>
          </a:xfrm>
          <a:custGeom>
            <a:avLst/>
            <a:gdLst/>
            <a:ahLst/>
            <a:cxnLst/>
            <a:rect r="r" b="b" t="t" l="l"/>
            <a:pathLst>
              <a:path h="2571787" w="324515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5423137" y="6231970"/>
            <a:ext cx="4444516" cy="4444516"/>
          </a:xfrm>
          <a:custGeom>
            <a:avLst/>
            <a:gdLst/>
            <a:ahLst/>
            <a:cxnLst/>
            <a:rect r="r" b="b" t="t" l="l"/>
            <a:pathLst>
              <a:path h="4444516" w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D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9149" y="669533"/>
            <a:ext cx="10552979" cy="1004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287"/>
              </a:lnSpc>
            </a:pPr>
            <a:r>
              <a:rPr lang="en-US" b="true" sz="8474">
                <a:solidFill>
                  <a:srgbClr val="FFFF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Plan de trabajo</a:t>
            </a:r>
          </a:p>
        </p:txBody>
      </p:sp>
      <p:sp>
        <p:nvSpPr>
          <p:cNvPr name="Freeform 3" id="3"/>
          <p:cNvSpPr/>
          <p:nvPr/>
        </p:nvSpPr>
        <p:spPr>
          <a:xfrm flipH="true" flipV="false" rot="0">
            <a:off x="8651351" y="-316837"/>
            <a:ext cx="10183529" cy="10920675"/>
          </a:xfrm>
          <a:custGeom>
            <a:avLst/>
            <a:gdLst/>
            <a:ahLst/>
            <a:cxnLst/>
            <a:rect r="r" b="b" t="t" l="l"/>
            <a:pathLst>
              <a:path h="10920675" w="10183529">
                <a:moveTo>
                  <a:pt x="10183529" y="0"/>
                </a:moveTo>
                <a:lnTo>
                  <a:pt x="0" y="0"/>
                </a:lnTo>
                <a:lnTo>
                  <a:pt x="0" y="10920674"/>
                </a:lnTo>
                <a:lnTo>
                  <a:pt x="10183529" y="10920674"/>
                </a:lnTo>
                <a:lnTo>
                  <a:pt x="1018352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49795" y="2372956"/>
            <a:ext cx="13084230" cy="5307291"/>
          </a:xfrm>
          <a:custGeom>
            <a:avLst/>
            <a:gdLst/>
            <a:ahLst/>
            <a:cxnLst/>
            <a:rect r="r" b="b" t="t" l="l"/>
            <a:pathLst>
              <a:path h="5307291" w="13084230">
                <a:moveTo>
                  <a:pt x="0" y="0"/>
                </a:moveTo>
                <a:lnTo>
                  <a:pt x="13084230" y="0"/>
                </a:lnTo>
                <a:lnTo>
                  <a:pt x="13084230" y="5307291"/>
                </a:lnTo>
                <a:lnTo>
                  <a:pt x="0" y="53072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2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3622506" y="8832418"/>
            <a:ext cx="3245157" cy="2571787"/>
          </a:xfrm>
          <a:custGeom>
            <a:avLst/>
            <a:gdLst/>
            <a:ahLst/>
            <a:cxnLst/>
            <a:rect r="r" b="b" t="t" l="l"/>
            <a:pathLst>
              <a:path h="2571787" w="324515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2384152"/>
            <a:ext cx="6483940" cy="4325773"/>
            <a:chOff x="0" y="0"/>
            <a:chExt cx="1251752" cy="83510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51752" cy="835109"/>
            </a:xfrm>
            <a:custGeom>
              <a:avLst/>
              <a:gdLst/>
              <a:ahLst/>
              <a:cxnLst/>
              <a:rect r="r" b="b" t="t" l="l"/>
              <a:pathLst>
                <a:path h="835109" w="1251752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4"/>
              <a:stretch>
                <a:fillRect l="0" t="0" r="-14777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6867664" y="6094074"/>
            <a:ext cx="7251860" cy="756382"/>
            <a:chOff x="0" y="0"/>
            <a:chExt cx="3554357" cy="37072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GitHub · Commits · Jira · MS Project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867664" y="7085055"/>
            <a:ext cx="7251860" cy="756382"/>
            <a:chOff x="0" y="0"/>
            <a:chExt cx="3554357" cy="3707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Documentación · BD · Capturas · Pruebas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67664" y="8076037"/>
            <a:ext cx="7251860" cy="756382"/>
            <a:chOff x="0" y="0"/>
            <a:chExt cx="3554357" cy="37072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Validación cliente · Plataforma funcional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true" flipV="false" rot="0">
            <a:off x="15423137" y="-617635"/>
            <a:ext cx="3245157" cy="2571787"/>
          </a:xfrm>
          <a:custGeom>
            <a:avLst/>
            <a:gdLst/>
            <a:ahLst/>
            <a:cxnLst/>
            <a:rect r="r" b="b" t="t" l="l"/>
            <a:pathLst>
              <a:path h="2571787" w="324515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5423137" y="6231970"/>
            <a:ext cx="4444516" cy="4444516"/>
          </a:xfrm>
          <a:custGeom>
            <a:avLst/>
            <a:gdLst/>
            <a:ahLst/>
            <a:cxnLst/>
            <a:rect r="r" b="b" t="t" l="l"/>
            <a:pathLst>
              <a:path h="4444516" w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6867664" y="1762514"/>
            <a:ext cx="7986915" cy="87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00"/>
              </a:lnSpc>
            </a:pPr>
            <a:r>
              <a:rPr lang="en-US" b="true" sz="561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Evidencias del proyecto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867664" y="3292784"/>
            <a:ext cx="8370026" cy="1254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1"/>
              </a:lnSpc>
            </a:pPr>
            <a:r>
              <a:rPr lang="en-US" sz="1595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Las evidencias permiten demostrar el avance, trazabilidad, funcionamiento y cumplimiento de los objetivos del proyecto Ferreplast. A continuación se listan los principales artefactos y registros generados durante el desarrollo del Capstone APT 2026.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D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328927" y="-884409"/>
            <a:ext cx="14096415" cy="11171409"/>
          </a:xfrm>
          <a:custGeom>
            <a:avLst/>
            <a:gdLst/>
            <a:ahLst/>
            <a:cxnLst/>
            <a:rect r="r" b="b" t="t" l="l"/>
            <a:pathLst>
              <a:path h="11171409" w="14096415">
                <a:moveTo>
                  <a:pt x="0" y="0"/>
                </a:moveTo>
                <a:lnTo>
                  <a:pt x="14096415" y="0"/>
                </a:lnTo>
                <a:lnTo>
                  <a:pt x="14096415" y="11171409"/>
                </a:lnTo>
                <a:lnTo>
                  <a:pt x="0" y="111714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7696776" y="9201190"/>
            <a:ext cx="10287000" cy="8152448"/>
          </a:xfrm>
          <a:custGeom>
            <a:avLst/>
            <a:gdLst/>
            <a:ahLst/>
            <a:cxnLst/>
            <a:rect r="r" b="b" t="t" l="l"/>
            <a:pathLst>
              <a:path h="8152448" w="10287000">
                <a:moveTo>
                  <a:pt x="0" y="0"/>
                </a:moveTo>
                <a:lnTo>
                  <a:pt x="10287000" y="0"/>
                </a:lnTo>
                <a:lnTo>
                  <a:pt x="10287000" y="8152447"/>
                </a:lnTo>
                <a:lnTo>
                  <a:pt x="0" y="81524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866307" y="-1103282"/>
            <a:ext cx="3244737" cy="3244737"/>
          </a:xfrm>
          <a:custGeom>
            <a:avLst/>
            <a:gdLst/>
            <a:ahLst/>
            <a:cxnLst/>
            <a:rect r="r" b="b" t="t" l="l"/>
            <a:pathLst>
              <a:path h="3244737" w="3244737">
                <a:moveTo>
                  <a:pt x="0" y="0"/>
                </a:moveTo>
                <a:lnTo>
                  <a:pt x="3244737" y="0"/>
                </a:lnTo>
                <a:lnTo>
                  <a:pt x="3244737" y="3244737"/>
                </a:lnTo>
                <a:lnTo>
                  <a:pt x="0" y="32447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3879161" y="3915334"/>
            <a:ext cx="9313040" cy="6213213"/>
            <a:chOff x="0" y="0"/>
            <a:chExt cx="1251752" cy="83510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51752" cy="835109"/>
            </a:xfrm>
            <a:custGeom>
              <a:avLst/>
              <a:gdLst/>
              <a:ahLst/>
              <a:cxnLst/>
              <a:rect r="r" b="b" t="t" l="l"/>
              <a:pathLst>
                <a:path h="835109" w="1251752">
                  <a:moveTo>
                    <a:pt x="39071" y="0"/>
                  </a:moveTo>
                  <a:lnTo>
                    <a:pt x="1212681" y="0"/>
                  </a:lnTo>
                  <a:cubicBezTo>
                    <a:pt x="1223043" y="0"/>
                    <a:pt x="1232981" y="4116"/>
                    <a:pt x="1240309" y="11444"/>
                  </a:cubicBezTo>
                  <a:cubicBezTo>
                    <a:pt x="1247636" y="18771"/>
                    <a:pt x="1251752" y="28709"/>
                    <a:pt x="1251752" y="39071"/>
                  </a:cubicBezTo>
                  <a:lnTo>
                    <a:pt x="1251752" y="796038"/>
                  </a:lnTo>
                  <a:cubicBezTo>
                    <a:pt x="1251752" y="806400"/>
                    <a:pt x="1247636" y="816338"/>
                    <a:pt x="1240309" y="823665"/>
                  </a:cubicBezTo>
                  <a:cubicBezTo>
                    <a:pt x="1232981" y="830993"/>
                    <a:pt x="1223043" y="835109"/>
                    <a:pt x="1212681" y="835109"/>
                  </a:cubicBezTo>
                  <a:lnTo>
                    <a:pt x="39071" y="835109"/>
                  </a:lnTo>
                  <a:cubicBezTo>
                    <a:pt x="28709" y="835109"/>
                    <a:pt x="18771" y="830993"/>
                    <a:pt x="11444" y="823665"/>
                  </a:cubicBezTo>
                  <a:cubicBezTo>
                    <a:pt x="4116" y="816338"/>
                    <a:pt x="0" y="806400"/>
                    <a:pt x="0" y="796038"/>
                  </a:cubicBezTo>
                  <a:lnTo>
                    <a:pt x="0" y="39071"/>
                  </a:lnTo>
                  <a:cubicBezTo>
                    <a:pt x="0" y="28709"/>
                    <a:pt x="4116" y="18771"/>
                    <a:pt x="11444" y="11444"/>
                  </a:cubicBezTo>
                  <a:cubicBezTo>
                    <a:pt x="18771" y="4116"/>
                    <a:pt x="28709" y="0"/>
                    <a:pt x="39071" y="0"/>
                  </a:cubicBezTo>
                  <a:close/>
                </a:path>
              </a:pathLst>
            </a:custGeom>
            <a:blipFill>
              <a:blip r:embed="rId8"/>
              <a:stretch>
                <a:fillRect l="0" t="0" r="0" b="-1559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28700" y="2531980"/>
            <a:ext cx="6933889" cy="1152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218"/>
              </a:lnSpc>
            </a:pPr>
            <a:r>
              <a:rPr lang="en-US" b="true" sz="7494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Matriz RACI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D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15373114" y="-257194"/>
            <a:ext cx="3245157" cy="2571787"/>
          </a:xfrm>
          <a:custGeom>
            <a:avLst/>
            <a:gdLst/>
            <a:ahLst/>
            <a:cxnLst/>
            <a:rect r="r" b="b" t="t" l="l"/>
            <a:pathLst>
              <a:path h="2571787" w="324515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860428" y="1838316"/>
            <a:ext cx="14398872" cy="7994077"/>
            <a:chOff x="0" y="0"/>
            <a:chExt cx="3160507" cy="175467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160507" cy="1754675"/>
            </a:xfrm>
            <a:custGeom>
              <a:avLst/>
              <a:gdLst/>
              <a:ahLst/>
              <a:cxnLst/>
              <a:rect r="r" b="b" t="t" l="l"/>
              <a:pathLst>
                <a:path h="1754675" w="3160507">
                  <a:moveTo>
                    <a:pt x="0" y="0"/>
                  </a:moveTo>
                  <a:lnTo>
                    <a:pt x="3160507" y="0"/>
                  </a:lnTo>
                  <a:lnTo>
                    <a:pt x="3160507" y="1754675"/>
                  </a:lnTo>
                  <a:lnTo>
                    <a:pt x="0" y="1754675"/>
                  </a:lnTo>
                  <a:close/>
                </a:path>
              </a:pathLst>
            </a:custGeom>
            <a:blipFill>
              <a:blip r:embed="rId4"/>
              <a:stretch>
                <a:fillRect l="0" t="-883" r="0" b="-883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-3380381" y="8365532"/>
            <a:ext cx="6150882" cy="6596120"/>
          </a:xfrm>
          <a:custGeom>
            <a:avLst/>
            <a:gdLst/>
            <a:ahLst/>
            <a:cxnLst/>
            <a:rect r="r" b="b" t="t" l="l"/>
            <a:pathLst>
              <a:path h="6596120" w="6150882">
                <a:moveTo>
                  <a:pt x="6150881" y="0"/>
                </a:moveTo>
                <a:lnTo>
                  <a:pt x="0" y="0"/>
                </a:lnTo>
                <a:lnTo>
                  <a:pt x="0" y="6596120"/>
                </a:lnTo>
                <a:lnTo>
                  <a:pt x="6150881" y="6596120"/>
                </a:lnTo>
                <a:lnTo>
                  <a:pt x="6150881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937779" y="266736"/>
            <a:ext cx="5750650" cy="2102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23"/>
              </a:lnSpc>
            </a:pPr>
            <a:r>
              <a:rPr lang="en-US" b="true" sz="502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Esquema</a:t>
            </a:r>
          </a:p>
          <a:p>
            <a:pPr algn="l" marL="0" indent="0" lvl="0">
              <a:lnSpc>
                <a:spcPts val="5523"/>
              </a:lnSpc>
            </a:pPr>
            <a:r>
              <a:rPr lang="en-US" b="true" sz="502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de Base de</a:t>
            </a:r>
          </a:p>
          <a:p>
            <a:pPr algn="l" marL="0" indent="0" lvl="0">
              <a:lnSpc>
                <a:spcPts val="5523"/>
              </a:lnSpc>
            </a:pPr>
            <a:r>
              <a:rPr lang="en-US" b="true" sz="502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Datos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2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6637826" y="-442204"/>
            <a:ext cx="14096415" cy="11171409"/>
          </a:xfrm>
          <a:custGeom>
            <a:avLst/>
            <a:gdLst/>
            <a:ahLst/>
            <a:cxnLst/>
            <a:rect r="r" b="b" t="t" l="l"/>
            <a:pathLst>
              <a:path h="11171409" w="14096415">
                <a:moveTo>
                  <a:pt x="0" y="11171408"/>
                </a:moveTo>
                <a:lnTo>
                  <a:pt x="14096415" y="11171408"/>
                </a:lnTo>
                <a:lnTo>
                  <a:pt x="14096415" y="0"/>
                </a:lnTo>
                <a:lnTo>
                  <a:pt x="0" y="0"/>
                </a:lnTo>
                <a:lnTo>
                  <a:pt x="0" y="1117140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79943" y="1005798"/>
            <a:ext cx="5018552" cy="8252502"/>
            <a:chOff x="0" y="0"/>
            <a:chExt cx="777505" cy="127852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77505" cy="1278529"/>
            </a:xfrm>
            <a:custGeom>
              <a:avLst/>
              <a:gdLst/>
              <a:ahLst/>
              <a:cxnLst/>
              <a:rect r="r" b="b" t="t" l="l"/>
              <a:pathLst>
                <a:path h="1278529" w="777505">
                  <a:moveTo>
                    <a:pt x="259308" y="19070"/>
                  </a:moveTo>
                  <a:cubicBezTo>
                    <a:pt x="299040" y="7556"/>
                    <a:pt x="344486" y="0"/>
                    <a:pt x="388962" y="0"/>
                  </a:cubicBezTo>
                  <a:cubicBezTo>
                    <a:pt x="433440" y="0"/>
                    <a:pt x="476238" y="6476"/>
                    <a:pt x="515679" y="17990"/>
                  </a:cubicBezTo>
                  <a:cubicBezTo>
                    <a:pt x="516519" y="18350"/>
                    <a:pt x="517358" y="18350"/>
                    <a:pt x="518197" y="18710"/>
                  </a:cubicBezTo>
                  <a:cubicBezTo>
                    <a:pt x="666313" y="64765"/>
                    <a:pt x="775407" y="186379"/>
                    <a:pt x="777505" y="338847"/>
                  </a:cubicBezTo>
                  <a:lnTo>
                    <a:pt x="777505" y="1178256"/>
                  </a:lnTo>
                  <a:cubicBezTo>
                    <a:pt x="777505" y="1204850"/>
                    <a:pt x="766941" y="1230354"/>
                    <a:pt x="748136" y="1249159"/>
                  </a:cubicBezTo>
                  <a:cubicBezTo>
                    <a:pt x="729331" y="1267964"/>
                    <a:pt x="703826" y="1278529"/>
                    <a:pt x="677232" y="1278529"/>
                  </a:cubicBezTo>
                  <a:lnTo>
                    <a:pt x="100273" y="1278529"/>
                  </a:lnTo>
                  <a:cubicBezTo>
                    <a:pt x="73679" y="1278529"/>
                    <a:pt x="48174" y="1267964"/>
                    <a:pt x="29369" y="1249159"/>
                  </a:cubicBezTo>
                  <a:cubicBezTo>
                    <a:pt x="10564" y="1230354"/>
                    <a:pt x="0" y="1204850"/>
                    <a:pt x="0" y="1178256"/>
                  </a:cubicBezTo>
                  <a:lnTo>
                    <a:pt x="0" y="339545"/>
                  </a:lnTo>
                  <a:cubicBezTo>
                    <a:pt x="2098" y="185660"/>
                    <a:pt x="109514" y="64045"/>
                    <a:pt x="259308" y="19070"/>
                  </a:cubicBezTo>
                  <a:lnTo>
                    <a:pt x="259308" y="19070"/>
                  </a:lnTo>
                  <a:close/>
                </a:path>
              </a:pathLst>
            </a:custGeom>
            <a:blipFill>
              <a:blip r:embed="rId4"/>
              <a:stretch>
                <a:fillRect l="0" t="-571" r="0" b="-57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8460131" y="1527124"/>
            <a:ext cx="8732113" cy="971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583"/>
              </a:lnSpc>
              <a:spcBef>
                <a:spcPct val="0"/>
              </a:spcBef>
            </a:pPr>
            <a:r>
              <a:rPr lang="en-US" b="true" sz="6319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Requisitos del Sistema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460131" y="3374441"/>
            <a:ext cx="9254439" cy="2646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Funcionales: Registro e inicio de sesión, gestión de usuarios y roles, catálogo de productos, búsqueda y filtros, gestión de productos, carrito de compras, cotizaciones, gestión de pedidos, control de stock, panel de administración, integración de pagos.</a:t>
            </a:r>
          </a:p>
          <a:p>
            <a:pPr algn="l" marL="0" indent="0" lvl="0">
              <a:lnSpc>
                <a:spcPts val="2698"/>
              </a:lnSpc>
            </a:pPr>
          </a:p>
          <a:p>
            <a:pPr algn="l" marL="0" indent="0" lvl="0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No funcionales: Seguridad (autenticación JWT), usabilidad intuitiva, rendimiento óptimo, disponibilidad 99%, diseño responsivo, integridad de datos, mantenibilidad del código.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460131" y="6420536"/>
            <a:ext cx="7251860" cy="756382"/>
            <a:chOff x="0" y="0"/>
            <a:chExt cx="3554357" cy="37072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Funcionales: 11 módulos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460131" y="7411518"/>
            <a:ext cx="7251860" cy="756382"/>
            <a:chOff x="0" y="0"/>
            <a:chExt cx="3554357" cy="37072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No funcionales: 7 criterios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460131" y="8402499"/>
            <a:ext cx="7251860" cy="756382"/>
            <a:chOff x="0" y="0"/>
            <a:chExt cx="3554357" cy="37072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554357" cy="370726"/>
            </a:xfrm>
            <a:custGeom>
              <a:avLst/>
              <a:gdLst/>
              <a:ahLst/>
              <a:cxnLst/>
              <a:rect r="r" b="b" t="t" l="l"/>
              <a:pathLst>
                <a:path h="370726" w="3554357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00"/>
                </a:lnSpc>
              </a:pPr>
              <a:r>
                <a:rPr lang="en-US" b="true" sz="200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Stack: React + Supabase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true" flipV="true" rot="0">
            <a:off x="15711991" y="0"/>
            <a:ext cx="5005096" cy="5367395"/>
          </a:xfrm>
          <a:custGeom>
            <a:avLst/>
            <a:gdLst/>
            <a:ahLst/>
            <a:cxnLst/>
            <a:rect r="r" b="b" t="t" l="l"/>
            <a:pathLst>
              <a:path h="5367395" w="5005096">
                <a:moveTo>
                  <a:pt x="5005096" y="5367395"/>
                </a:moveTo>
                <a:lnTo>
                  <a:pt x="0" y="5367395"/>
                </a:lnTo>
                <a:lnTo>
                  <a:pt x="0" y="0"/>
                </a:lnTo>
                <a:lnTo>
                  <a:pt x="5005096" y="0"/>
                </a:lnTo>
                <a:lnTo>
                  <a:pt x="5005096" y="5367395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D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351740" y="-884409"/>
            <a:ext cx="14096415" cy="11171409"/>
          </a:xfrm>
          <a:custGeom>
            <a:avLst/>
            <a:gdLst/>
            <a:ahLst/>
            <a:cxnLst/>
            <a:rect r="r" b="b" t="t" l="l"/>
            <a:pathLst>
              <a:path h="11171409" w="14096415">
                <a:moveTo>
                  <a:pt x="0" y="0"/>
                </a:moveTo>
                <a:lnTo>
                  <a:pt x="14096415" y="0"/>
                </a:lnTo>
                <a:lnTo>
                  <a:pt x="14096415" y="11171409"/>
                </a:lnTo>
                <a:lnTo>
                  <a:pt x="0" y="111714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144000" y="8224375"/>
            <a:ext cx="2702505" cy="2702505"/>
          </a:xfrm>
          <a:custGeom>
            <a:avLst/>
            <a:gdLst/>
            <a:ahLst/>
            <a:cxnLst/>
            <a:rect r="r" b="b" t="t" l="l"/>
            <a:pathLst>
              <a:path h="2702505" w="2702505">
                <a:moveTo>
                  <a:pt x="0" y="0"/>
                </a:moveTo>
                <a:lnTo>
                  <a:pt x="2702505" y="0"/>
                </a:lnTo>
                <a:lnTo>
                  <a:pt x="2702505" y="2702505"/>
                </a:lnTo>
                <a:lnTo>
                  <a:pt x="0" y="27025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-884409"/>
            <a:ext cx="2141965" cy="2141965"/>
          </a:xfrm>
          <a:custGeom>
            <a:avLst/>
            <a:gdLst/>
            <a:ahLst/>
            <a:cxnLst/>
            <a:rect r="r" b="b" t="t" l="l"/>
            <a:pathLst>
              <a:path h="2141965" w="2141965">
                <a:moveTo>
                  <a:pt x="0" y="0"/>
                </a:moveTo>
                <a:lnTo>
                  <a:pt x="2141965" y="0"/>
                </a:lnTo>
                <a:lnTo>
                  <a:pt x="2141965" y="2141965"/>
                </a:lnTo>
                <a:lnTo>
                  <a:pt x="0" y="21419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19963" y="3298638"/>
            <a:ext cx="7760997" cy="4683741"/>
          </a:xfrm>
          <a:custGeom>
            <a:avLst/>
            <a:gdLst/>
            <a:ahLst/>
            <a:cxnLst/>
            <a:rect r="r" b="b" t="t" l="l"/>
            <a:pathLst>
              <a:path h="4683741" w="7760997">
                <a:moveTo>
                  <a:pt x="0" y="0"/>
                </a:moveTo>
                <a:lnTo>
                  <a:pt x="7760998" y="0"/>
                </a:lnTo>
                <a:lnTo>
                  <a:pt x="7760998" y="4683741"/>
                </a:lnTo>
                <a:lnTo>
                  <a:pt x="0" y="46837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0467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261554" y="3178304"/>
            <a:ext cx="7502857" cy="5001905"/>
          </a:xfrm>
          <a:custGeom>
            <a:avLst/>
            <a:gdLst/>
            <a:ahLst/>
            <a:cxnLst/>
            <a:rect r="r" b="b" t="t" l="l"/>
            <a:pathLst>
              <a:path h="5001905" w="7502857">
                <a:moveTo>
                  <a:pt x="0" y="0"/>
                </a:moveTo>
                <a:lnTo>
                  <a:pt x="7502856" y="0"/>
                </a:lnTo>
                <a:lnTo>
                  <a:pt x="7502856" y="5001904"/>
                </a:lnTo>
                <a:lnTo>
                  <a:pt x="0" y="50019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288475" y="1361286"/>
            <a:ext cx="7986915" cy="1041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252"/>
              </a:lnSpc>
            </a:pPr>
            <a:r>
              <a:rPr lang="en-US" b="true" sz="6709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Mockups Tentativos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A3D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7643189" y="4006962"/>
            <a:ext cx="6150882" cy="6596120"/>
          </a:xfrm>
          <a:custGeom>
            <a:avLst/>
            <a:gdLst/>
            <a:ahLst/>
            <a:cxnLst/>
            <a:rect r="r" b="b" t="t" l="l"/>
            <a:pathLst>
              <a:path h="6596120" w="6150882">
                <a:moveTo>
                  <a:pt x="6150882" y="0"/>
                </a:moveTo>
                <a:lnTo>
                  <a:pt x="0" y="0"/>
                </a:lnTo>
                <a:lnTo>
                  <a:pt x="0" y="6596119"/>
                </a:lnTo>
                <a:lnTo>
                  <a:pt x="6150882" y="6596119"/>
                </a:lnTo>
                <a:lnTo>
                  <a:pt x="615088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767146" y="86686"/>
            <a:ext cx="12215191" cy="4275109"/>
            <a:chOff x="0" y="0"/>
            <a:chExt cx="5013600" cy="175467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13599" cy="1754675"/>
            </a:xfrm>
            <a:custGeom>
              <a:avLst/>
              <a:gdLst/>
              <a:ahLst/>
              <a:cxnLst/>
              <a:rect r="r" b="b" t="t" l="l"/>
              <a:pathLst>
                <a:path h="1754675" w="5013599">
                  <a:moveTo>
                    <a:pt x="0" y="0"/>
                  </a:moveTo>
                  <a:lnTo>
                    <a:pt x="5013599" y="0"/>
                  </a:lnTo>
                  <a:lnTo>
                    <a:pt x="5013599" y="1754675"/>
                  </a:lnTo>
                  <a:lnTo>
                    <a:pt x="0" y="1754675"/>
                  </a:lnTo>
                  <a:close/>
                </a:path>
              </a:pathLst>
            </a:custGeom>
            <a:blipFill>
              <a:blip r:embed="rId4"/>
              <a:stretch>
                <a:fillRect l="-3337" t="0" r="-3337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-2781300" y="-5360550"/>
            <a:ext cx="6150882" cy="6596120"/>
          </a:xfrm>
          <a:custGeom>
            <a:avLst/>
            <a:gdLst/>
            <a:ahLst/>
            <a:cxnLst/>
            <a:rect r="r" b="b" t="t" l="l"/>
            <a:pathLst>
              <a:path h="6596120" w="6150882">
                <a:moveTo>
                  <a:pt x="6150882" y="0"/>
                </a:moveTo>
                <a:lnTo>
                  <a:pt x="0" y="0"/>
                </a:lnTo>
                <a:lnTo>
                  <a:pt x="0" y="6596120"/>
                </a:lnTo>
                <a:lnTo>
                  <a:pt x="6150882" y="6596120"/>
                </a:lnTo>
                <a:lnTo>
                  <a:pt x="6150882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3406980"/>
            <a:ext cx="8007720" cy="20991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Este proyecto nos permite aplicar competencias de ingeniería informática en un contexto real, desarrollando una plataforma web integral para Ferreplast.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Aplicamos metodología ágil Scrum, tecnologías modernas como React, Vite y Supabase, y trabajamos directamente con el cliente Erwin Fuentes para validar cada etapa del proceso.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912598"/>
            <a:ext cx="8007720" cy="1209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593"/>
              </a:lnSpc>
              <a:spcBef>
                <a:spcPct val="0"/>
              </a:spcBef>
            </a:pPr>
            <a:r>
              <a:rPr lang="en-US" b="true" sz="7994">
                <a:solidFill>
                  <a:srgbClr val="C2D9FF"/>
                </a:solidFill>
                <a:latin typeface="Raleway Bold"/>
                <a:ea typeface="Raleway Bold"/>
                <a:cs typeface="Raleway Bold"/>
                <a:sym typeface="Raleway Bold"/>
              </a:rPr>
              <a:t>Conclusión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5782516"/>
            <a:ext cx="8007720" cy="174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"De un catálogo digital a una plataforma integral de ventas y gestión."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 – Proyecto APT Capstone 2026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Ingeniería en Informática – Duoc UC Puerto Montt</a:t>
            </a:r>
          </a:p>
          <a:p>
            <a:pPr algn="l" marL="0" indent="0" lvl="0">
              <a:lnSpc>
                <a:spcPts val="2847"/>
              </a:lnSpc>
            </a:pPr>
            <a:r>
              <a:rPr lang="en-US" sz="1898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Ricardo Ojeda · Kevin Vivanco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DAHT6v_ydq4</dc:identifier>
  <dcterms:modified xsi:type="dcterms:W3CDTF">2011-08-01T06:04:30Z</dcterms:modified>
  <cp:revision>1</cp:revision>
  <dc:title>Ferreplast Capstone Presentation</dc:title>
</cp:coreProperties>
</file>