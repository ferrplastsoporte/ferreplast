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al Nova" panose="020B0504020202020204" pitchFamily="34" charset="0"/>
      <p:regular r:id="rId19"/>
    </p:embeddedFont>
    <p:embeddedFont>
      <p:font typeface="Arial Nova Bold" panose="020B0804020202020204" charset="0"/>
      <p:regular r:id="rId20"/>
    </p:embeddedFont>
    <p:embeddedFont>
      <p:font typeface="Montaser Arabic" panose="020B0604020202020204" charset="-78"/>
      <p:regular r:id="rId21"/>
    </p:embeddedFont>
    <p:embeddedFont>
      <p:font typeface="Public Sans" panose="020B0604020202020204" charset="0"/>
      <p:regular r:id="rId22"/>
    </p:embeddedFont>
    <p:embeddedFont>
      <p:font typeface="Public Sans Bold" panose="020B0604020202020204" charset="0"/>
      <p:regular r:id="rId23"/>
    </p:embeddedFont>
    <p:embeddedFont>
      <p:font typeface="Raleway Bold" panose="020B060402020202020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1395" y="465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96C8BF-022B-4DE3-85EE-C853FABB1F62}" type="datetimeFigureOut">
              <a:rPr lang="es-CL" smtClean="0"/>
              <a:t>01-09-2026</a:t>
            </a:fld>
            <a:endParaRPr lang="es-C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D55936-6EF4-4E23-8795-D32CAD0D4C47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18157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55936-6EF4-4E23-8795-D32CAD0D4C47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77668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jpe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jpe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232695" y="6784919"/>
            <a:ext cx="6055305" cy="6055305"/>
          </a:xfrm>
          <a:custGeom>
            <a:avLst/>
            <a:gdLst/>
            <a:ahLst/>
            <a:cxnLst/>
            <a:rect l="l" t="t" r="r" b="b"/>
            <a:pathLst>
              <a:path w="6055305" h="6055305">
                <a:moveTo>
                  <a:pt x="0" y="0"/>
                </a:moveTo>
                <a:lnTo>
                  <a:pt x="6055305" y="0"/>
                </a:lnTo>
                <a:lnTo>
                  <a:pt x="6055305" y="6055305"/>
                </a:lnTo>
                <a:lnTo>
                  <a:pt x="0" y="60553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flipH="1">
            <a:off x="-8493649" y="-316837"/>
            <a:ext cx="10183529" cy="10920675"/>
          </a:xfrm>
          <a:custGeom>
            <a:avLst/>
            <a:gdLst/>
            <a:ahLst/>
            <a:cxnLst/>
            <a:rect l="l" t="t" r="r" b="b"/>
            <a:pathLst>
              <a:path w="10183529" h="10920675">
                <a:moveTo>
                  <a:pt x="10183529" y="0"/>
                </a:moveTo>
                <a:lnTo>
                  <a:pt x="0" y="0"/>
                </a:lnTo>
                <a:lnTo>
                  <a:pt x="0" y="10920674"/>
                </a:lnTo>
                <a:lnTo>
                  <a:pt x="10183529" y="10920674"/>
                </a:lnTo>
                <a:lnTo>
                  <a:pt x="10183529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4318683" y="-1419846"/>
            <a:ext cx="9945298" cy="7881648"/>
          </a:xfrm>
          <a:custGeom>
            <a:avLst/>
            <a:gdLst/>
            <a:ahLst/>
            <a:cxnLst/>
            <a:rect l="l" t="t" r="r" b="b"/>
            <a:pathLst>
              <a:path w="9945298" h="7881648">
                <a:moveTo>
                  <a:pt x="0" y="0"/>
                </a:moveTo>
                <a:lnTo>
                  <a:pt x="9945298" y="0"/>
                </a:lnTo>
                <a:lnTo>
                  <a:pt x="9945298" y="7881648"/>
                </a:lnTo>
                <a:lnTo>
                  <a:pt x="0" y="78816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>
            <a:off x="4024019" y="2095500"/>
            <a:ext cx="10673359" cy="3630724"/>
          </a:xfrm>
          <a:custGeom>
            <a:avLst/>
            <a:gdLst/>
            <a:ahLst/>
            <a:cxnLst/>
            <a:rect l="l" t="t" r="r" b="b"/>
            <a:pathLst>
              <a:path w="12079739" h="3963140">
                <a:moveTo>
                  <a:pt x="0" y="0"/>
                </a:moveTo>
                <a:lnTo>
                  <a:pt x="12079739" y="0"/>
                </a:lnTo>
                <a:lnTo>
                  <a:pt x="12079739" y="3963139"/>
                </a:lnTo>
                <a:lnTo>
                  <a:pt x="0" y="39631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2362200" y="7810500"/>
            <a:ext cx="7162800" cy="1891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>
              <a:lnSpc>
                <a:spcPts val="3029"/>
              </a:lnSpc>
              <a:buFont typeface="Arial" panose="020B0604020202020204" pitchFamily="34" charset="0"/>
              <a:buChar char="•"/>
            </a:pPr>
            <a:r>
              <a:rPr lang="en-US" sz="2164" b="1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Proyecto APT</a:t>
            </a:r>
            <a:r>
              <a:rPr lang="en-US" sz="2164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: </a:t>
            </a:r>
            <a:r>
              <a:rPr lang="en-US" sz="2164" dirty="0" err="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Ferreplast</a:t>
            </a:r>
            <a:r>
              <a:rPr lang="en-US" sz="2164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- 2026</a:t>
            </a:r>
          </a:p>
          <a:p>
            <a:pPr marL="342900" lvl="0" indent="-342900" algn="l">
              <a:lnSpc>
                <a:spcPts val="3029"/>
              </a:lnSpc>
              <a:buFont typeface="Arial" panose="020B0604020202020204" pitchFamily="34" charset="0"/>
              <a:buChar char="•"/>
            </a:pPr>
            <a:r>
              <a:rPr lang="en-US" sz="2164" b="1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Carrera</a:t>
            </a:r>
            <a:r>
              <a:rPr lang="en-US" sz="2164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: Ingeniería </a:t>
            </a:r>
            <a:r>
              <a:rPr lang="en-US" sz="2164" dirty="0" err="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en</a:t>
            </a:r>
            <a:r>
              <a:rPr lang="en-US" sz="2164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2164" dirty="0" err="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Informática</a:t>
            </a:r>
            <a:endParaRPr lang="en-US" sz="2164" dirty="0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342900" lvl="0" indent="-342900" algn="l">
              <a:lnSpc>
                <a:spcPts val="3029"/>
              </a:lnSpc>
              <a:buFont typeface="Arial" panose="020B0604020202020204" pitchFamily="34" charset="0"/>
              <a:buChar char="•"/>
            </a:pPr>
            <a:r>
              <a:rPr lang="en-US" sz="2164" b="1" dirty="0" err="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Sede</a:t>
            </a:r>
            <a:r>
              <a:rPr lang="en-US" sz="2164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: Duoc UC Puerto Montt</a:t>
            </a:r>
          </a:p>
          <a:p>
            <a:pPr marL="342900" lvl="0" indent="-342900" algn="l">
              <a:lnSpc>
                <a:spcPts val="3029"/>
              </a:lnSpc>
              <a:buFont typeface="Arial" panose="020B0604020202020204" pitchFamily="34" charset="0"/>
              <a:buChar char="•"/>
            </a:pPr>
            <a:r>
              <a:rPr lang="en-US" sz="2164" b="1" dirty="0" err="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Integrantes</a:t>
            </a:r>
            <a:r>
              <a:rPr lang="en-US" sz="2164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: Ricardo Ojeda y Kevin Vivanco</a:t>
            </a:r>
          </a:p>
          <a:p>
            <a:pPr marL="342900" lvl="0" indent="-342900" algn="l">
              <a:lnSpc>
                <a:spcPts val="3029"/>
              </a:lnSpc>
              <a:buFont typeface="Arial" panose="020B0604020202020204" pitchFamily="34" charset="0"/>
              <a:buChar char="•"/>
            </a:pPr>
            <a:r>
              <a:rPr lang="en-US" sz="2164" b="1" dirty="0" err="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Contraparte</a:t>
            </a:r>
            <a:r>
              <a:rPr lang="en-US" sz="2164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: Erwin </a:t>
            </a:r>
            <a:r>
              <a:rPr lang="en-US" sz="2164" dirty="0" err="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Fiente</a:t>
            </a:r>
            <a:endParaRPr lang="en-US" sz="2164" dirty="0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0B58D0-42F0-BF38-E629-50FA9B3971D3}"/>
              </a:ext>
            </a:extLst>
          </p:cNvPr>
          <p:cNvSpPr txBox="1"/>
          <p:nvPr/>
        </p:nvSpPr>
        <p:spPr>
          <a:xfrm>
            <a:off x="6579399" y="5523962"/>
            <a:ext cx="5562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Plataforma Web de Ventas y </a:t>
            </a:r>
            <a:r>
              <a:rPr lang="en-US" sz="2400" dirty="0" err="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Gestión</a:t>
            </a:r>
            <a:endParaRPr lang="en-US" sz="2400" dirty="0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endParaRPr lang="es-CL" dirty="0"/>
          </a:p>
        </p:txBody>
      </p:sp>
      <p:pic>
        <p:nvPicPr>
          <p:cNvPr id="8" name="Picture 7" descr="Certifika 2026 – Duoc UC">
            <a:extLst>
              <a:ext uri="{FF2B5EF4-FFF2-40B4-BE49-F238E27FC236}">
                <a16:creationId xmlns:a16="http://schemas.microsoft.com/office/drawing/2014/main" id="{52B919B6-98FC-B0C3-2056-D4086FD700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316" y="323902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575752" y="0"/>
            <a:ext cx="7788447" cy="10287000"/>
            <a:chOff x="0" y="0"/>
            <a:chExt cx="1291123" cy="17546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91123" cy="1754675"/>
            </a:xfrm>
            <a:custGeom>
              <a:avLst/>
              <a:gdLst/>
              <a:ahLst/>
              <a:cxnLst/>
              <a:rect l="l" t="t" r="r" b="b"/>
              <a:pathLst>
                <a:path w="1291123" h="1754675">
                  <a:moveTo>
                    <a:pt x="0" y="0"/>
                  </a:moveTo>
                  <a:lnTo>
                    <a:pt x="1291123" y="0"/>
                  </a:lnTo>
                  <a:lnTo>
                    <a:pt x="1291123" y="1754675"/>
                  </a:lnTo>
                  <a:lnTo>
                    <a:pt x="0" y="1754675"/>
                  </a:lnTo>
                  <a:close/>
                </a:path>
              </a:pathLst>
            </a:custGeom>
            <a:blipFill>
              <a:blip r:embed="rId3"/>
              <a:stretch>
                <a:fillRect l="-34769" r="-136697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Freeform 4"/>
          <p:cNvSpPr/>
          <p:nvPr/>
        </p:nvSpPr>
        <p:spPr>
          <a:xfrm flipH="1">
            <a:off x="8463091" y="-684759"/>
            <a:ext cx="3576508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7" y="0"/>
                </a:moveTo>
                <a:lnTo>
                  <a:pt x="0" y="0"/>
                </a:lnTo>
                <a:lnTo>
                  <a:pt x="0" y="2571787"/>
                </a:lnTo>
                <a:lnTo>
                  <a:pt x="3245157" y="2571787"/>
                </a:lnTo>
                <a:lnTo>
                  <a:pt x="3245157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flipH="1">
            <a:off x="-3860966" y="9417622"/>
            <a:ext cx="6150882" cy="6596120"/>
          </a:xfrm>
          <a:custGeom>
            <a:avLst/>
            <a:gdLst/>
            <a:ahLst/>
            <a:cxnLst/>
            <a:rect l="l" t="t" r="r" b="b"/>
            <a:pathLst>
              <a:path w="6150882" h="6596120">
                <a:moveTo>
                  <a:pt x="6150882" y="0"/>
                </a:moveTo>
                <a:lnTo>
                  <a:pt x="0" y="0"/>
                </a:lnTo>
                <a:lnTo>
                  <a:pt x="0" y="6596119"/>
                </a:lnTo>
                <a:lnTo>
                  <a:pt x="6150882" y="6596119"/>
                </a:lnTo>
                <a:lnTo>
                  <a:pt x="6150882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1028700" y="1334412"/>
            <a:ext cx="5750650" cy="2114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250"/>
              </a:lnSpc>
            </a:pPr>
            <a:r>
              <a:rPr lang="en-US" sz="7500" b="1" dirty="0" err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Descripción</a:t>
            </a:r>
            <a:endParaRPr lang="en-US" sz="7500" b="1" dirty="0">
              <a:solidFill>
                <a:srgbClr val="C2D9FF"/>
              </a:solidFill>
              <a:latin typeface="Arial Nova Bold"/>
              <a:ea typeface="Arial Nova Bold"/>
              <a:cs typeface="Arial Nova Bold"/>
              <a:sym typeface="Arial Nova Bold"/>
            </a:endParaRPr>
          </a:p>
          <a:p>
            <a:pPr marL="0" lvl="0" indent="0" algn="l">
              <a:lnSpc>
                <a:spcPts val="8250"/>
              </a:lnSpc>
            </a:pPr>
            <a:r>
              <a:rPr lang="en-US" sz="7500" b="1" dirty="0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y </a:t>
            </a:r>
            <a:r>
              <a:rPr lang="en-US" sz="7500" b="1" dirty="0" err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relevancia</a:t>
            </a:r>
            <a:endParaRPr lang="en-US" sz="7500" b="1" dirty="0">
              <a:solidFill>
                <a:srgbClr val="C2D9FF"/>
              </a:solidFill>
              <a:latin typeface="Arial Nova Bold"/>
              <a:ea typeface="Arial Nova Bold"/>
              <a:cs typeface="Arial Nova Bold"/>
              <a:sym typeface="Arial Nova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8700" y="3771900"/>
            <a:ext cx="9254439" cy="2451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9"/>
              </a:lnSpc>
            </a:pP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es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una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microempresa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ubicada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Puerto Montt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dedicada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a la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venta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productos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ferretería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resina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epóxica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Actualmente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cuenta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con un sitio web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estático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con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catálogo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limitado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sin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productos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ni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procesos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digitales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integrados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  <a:p>
            <a:pPr marL="0" lvl="0" indent="0" algn="l">
              <a:lnSpc>
                <a:spcPts val="2849"/>
              </a:lnSpc>
            </a:pP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Las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cotizaciones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se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realizan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por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WhatsApp y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los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procesos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venta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son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manuales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lo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que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genera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ineficiencias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operativas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dependencia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un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desarrollador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externo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para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cualquier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actualización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767" y="6385560"/>
            <a:ext cx="9254439" cy="2451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9"/>
              </a:lnSpc>
            </a:pP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Problemas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identificados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: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catálogo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digital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limitado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manual de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productos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cotizaciones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informales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procesos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separados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sin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trazabilidad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y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alta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dependencia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técnica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externa.</a:t>
            </a:r>
          </a:p>
          <a:p>
            <a:pPr marL="0" lvl="0" indent="0" algn="l">
              <a:lnSpc>
                <a:spcPts val="2849"/>
              </a:lnSpc>
            </a:pPr>
            <a:endParaRPr lang="en-US" sz="1899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849"/>
              </a:lnSpc>
            </a:pP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Propuesta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: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Desarrollar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una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plataforma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web integral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que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centralice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ventas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productos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cotizaciones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pedidos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administración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mejorando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la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experiencia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del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cliente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la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eficiencia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operativa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9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</a:t>
            </a:r>
            <a:r>
              <a:rPr lang="en-US" sz="1899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-6637826" y="-442204"/>
            <a:ext cx="14096415" cy="11171409"/>
          </a:xfrm>
          <a:custGeom>
            <a:avLst/>
            <a:gdLst/>
            <a:ahLst/>
            <a:cxnLst/>
            <a:rect l="l" t="t" r="r" b="b"/>
            <a:pathLst>
              <a:path w="14096415" h="11171409">
                <a:moveTo>
                  <a:pt x="0" y="11171408"/>
                </a:moveTo>
                <a:lnTo>
                  <a:pt x="14096415" y="11171408"/>
                </a:lnTo>
                <a:lnTo>
                  <a:pt x="14096415" y="0"/>
                </a:lnTo>
                <a:lnTo>
                  <a:pt x="0" y="0"/>
                </a:lnTo>
                <a:lnTo>
                  <a:pt x="0" y="11171408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TextBox 3"/>
          <p:cNvSpPr txBox="1"/>
          <p:nvPr/>
        </p:nvSpPr>
        <p:spPr>
          <a:xfrm>
            <a:off x="8460131" y="2233790"/>
            <a:ext cx="8732113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779"/>
              </a:lnSpc>
              <a:spcBef>
                <a:spcPct val="0"/>
              </a:spcBef>
            </a:pPr>
            <a:r>
              <a:rPr lang="en-US" sz="5649" b="1" dirty="0" err="1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Problemática</a:t>
            </a:r>
            <a:r>
              <a:rPr lang="en-US" sz="5649" b="1" dirty="0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 &gt; </a:t>
            </a:r>
            <a:r>
              <a:rPr lang="en-US" sz="5649" b="1" dirty="0" err="1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Solución</a:t>
            </a:r>
            <a:endParaRPr lang="en-US" sz="5649" b="1" dirty="0">
              <a:solidFill>
                <a:srgbClr val="2A3DC7"/>
              </a:solidFill>
              <a:latin typeface="Raleway Bold"/>
              <a:ea typeface="Raleway Bold"/>
              <a:cs typeface="Raleway Bold"/>
              <a:sym typeface="Raleway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8460131" y="3374441"/>
            <a:ext cx="9254439" cy="26460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98"/>
              </a:lnSpc>
            </a:pPr>
            <a:r>
              <a:rPr lang="en-US" sz="179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Comparativa entre la situación actual de Ferreplast y la solución propuesta mediante la plataforma web integral.</a:t>
            </a:r>
          </a:p>
          <a:p>
            <a:pPr marL="0" lvl="0" indent="0" algn="l">
              <a:lnSpc>
                <a:spcPts val="2698"/>
              </a:lnSpc>
            </a:pPr>
            <a:endParaRPr lang="en-US" sz="1798">
              <a:solidFill>
                <a:srgbClr val="2A3DC7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698"/>
              </a:lnSpc>
            </a:pPr>
            <a:r>
              <a:rPr lang="en-US" sz="179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❌ Catálogo limitado  →  ✅ Catálogo dinámico</a:t>
            </a:r>
          </a:p>
          <a:p>
            <a:pPr marL="0" lvl="0" indent="0" algn="l">
              <a:lnSpc>
                <a:spcPts val="2698"/>
              </a:lnSpc>
            </a:pPr>
            <a:r>
              <a:rPr lang="en-US" sz="179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❌ Gestión manual  →  ✅ Gestión automatizada</a:t>
            </a:r>
          </a:p>
          <a:p>
            <a:pPr marL="0" lvl="0" indent="0" algn="l">
              <a:lnSpc>
                <a:spcPts val="2698"/>
              </a:lnSpc>
            </a:pPr>
            <a:r>
              <a:rPr lang="en-US" sz="179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❌ Cotizaciones por WhatsApp  →  ✅ Sistema integrado</a:t>
            </a:r>
          </a:p>
          <a:p>
            <a:pPr marL="0" lvl="0" indent="0" algn="l">
              <a:lnSpc>
                <a:spcPts val="2698"/>
              </a:lnSpc>
            </a:pPr>
            <a:r>
              <a:rPr lang="en-US" sz="179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❌ Procesos separados  →  ✅ Plataforma unificada</a:t>
            </a:r>
          </a:p>
          <a:p>
            <a:pPr marL="0" lvl="0" indent="0" algn="l">
              <a:lnSpc>
                <a:spcPts val="2698"/>
              </a:lnSpc>
            </a:pPr>
            <a:r>
              <a:rPr lang="en-US" sz="179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❌ Dependencia del desarrollador  →  ✅ Autonomía operativa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8460131" y="6303935"/>
            <a:ext cx="7251860" cy="756382"/>
            <a:chOff x="0" y="0"/>
            <a:chExt cx="3554357" cy="37072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Problemática actual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460131" y="7294916"/>
            <a:ext cx="7251860" cy="756382"/>
            <a:chOff x="0" y="0"/>
            <a:chExt cx="3554357" cy="37072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Solución propuesta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460131" y="8285897"/>
            <a:ext cx="7251860" cy="756382"/>
            <a:chOff x="0" y="0"/>
            <a:chExt cx="3554357" cy="37072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Impacto esperado</a:t>
              </a:r>
            </a:p>
          </p:txBody>
        </p:sp>
      </p:grpSp>
      <p:sp>
        <p:nvSpPr>
          <p:cNvPr id="14" name="Freeform 14"/>
          <p:cNvSpPr/>
          <p:nvPr/>
        </p:nvSpPr>
        <p:spPr>
          <a:xfrm flipH="1" flipV="1">
            <a:off x="15711991" y="0"/>
            <a:ext cx="5005096" cy="5367395"/>
          </a:xfrm>
          <a:custGeom>
            <a:avLst/>
            <a:gdLst/>
            <a:ahLst/>
            <a:cxnLst/>
            <a:rect l="l" t="t" r="r" b="b"/>
            <a:pathLst>
              <a:path w="5005096" h="5367395">
                <a:moveTo>
                  <a:pt x="5005096" y="5367395"/>
                </a:moveTo>
                <a:lnTo>
                  <a:pt x="0" y="5367395"/>
                </a:lnTo>
                <a:lnTo>
                  <a:pt x="0" y="0"/>
                </a:lnTo>
                <a:lnTo>
                  <a:pt x="5005096" y="0"/>
                </a:lnTo>
                <a:lnTo>
                  <a:pt x="5005096" y="5367395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78743" y="4039397"/>
            <a:ext cx="7211553" cy="4494228"/>
          </a:xfrm>
          <a:custGeom>
            <a:avLst/>
            <a:gdLst/>
            <a:ahLst/>
            <a:cxnLst/>
            <a:rect l="l" t="t" r="r" b="b"/>
            <a:pathLst>
              <a:path w="7211553" h="4494228">
                <a:moveTo>
                  <a:pt x="0" y="0"/>
                </a:moveTo>
                <a:lnTo>
                  <a:pt x="7211553" y="0"/>
                </a:lnTo>
                <a:lnTo>
                  <a:pt x="7211553" y="4494228"/>
                </a:lnTo>
                <a:lnTo>
                  <a:pt x="0" y="44942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825096" y="2328197"/>
            <a:ext cx="6483940" cy="4536441"/>
            <a:chOff x="0" y="0"/>
            <a:chExt cx="1251752" cy="87577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51752" cy="875779"/>
            </a:xfrm>
            <a:custGeom>
              <a:avLst/>
              <a:gdLst/>
              <a:ahLst/>
              <a:cxnLst/>
              <a:rect l="l" t="t" r="r" b="b"/>
              <a:pathLst>
                <a:path w="1251752" h="87577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9661"/>
                  </a:lnTo>
                  <a:cubicBezTo>
                    <a:pt x="1251752" y="850654"/>
                    <a:pt x="1226627" y="875779"/>
                    <a:pt x="1195634" y="875779"/>
                  </a:cubicBezTo>
                  <a:lnTo>
                    <a:pt x="56119" y="875779"/>
                  </a:lnTo>
                  <a:cubicBezTo>
                    <a:pt x="25125" y="875779"/>
                    <a:pt x="0" y="850654"/>
                    <a:pt x="0" y="81966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2"/>
              <a:stretch>
                <a:fillRect t="-114" b="-114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Freeform 4"/>
          <p:cNvSpPr/>
          <p:nvPr/>
        </p:nvSpPr>
        <p:spPr>
          <a:xfrm flipH="1">
            <a:off x="3622506" y="8832418"/>
            <a:ext cx="3245157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8" y="0"/>
                </a:moveTo>
                <a:lnTo>
                  <a:pt x="0" y="0"/>
                </a:lnTo>
                <a:lnTo>
                  <a:pt x="0" y="2571788"/>
                </a:lnTo>
                <a:lnTo>
                  <a:pt x="3245158" y="2571788"/>
                </a:lnTo>
                <a:lnTo>
                  <a:pt x="3245158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5" name="Group 5"/>
          <p:cNvGrpSpPr/>
          <p:nvPr/>
        </p:nvGrpSpPr>
        <p:grpSpPr>
          <a:xfrm>
            <a:off x="-825096" y="7264753"/>
            <a:ext cx="6483940" cy="4506345"/>
            <a:chOff x="0" y="0"/>
            <a:chExt cx="1251752" cy="8699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51752" cy="869969"/>
            </a:xfrm>
            <a:custGeom>
              <a:avLst/>
              <a:gdLst/>
              <a:ahLst/>
              <a:cxnLst/>
              <a:rect l="l" t="t" r="r" b="b"/>
              <a:pathLst>
                <a:path w="1251752" h="86996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3851"/>
                  </a:lnTo>
                  <a:cubicBezTo>
                    <a:pt x="1251752" y="844844"/>
                    <a:pt x="1226627" y="869969"/>
                    <a:pt x="1195634" y="869969"/>
                  </a:cubicBezTo>
                  <a:lnTo>
                    <a:pt x="56119" y="869969"/>
                  </a:lnTo>
                  <a:cubicBezTo>
                    <a:pt x="25125" y="869969"/>
                    <a:pt x="0" y="844844"/>
                    <a:pt x="0" y="81385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4"/>
              <a:stretch>
                <a:fillRect t="-449" b="-449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825096" y="-2371621"/>
            <a:ext cx="6483940" cy="4325773"/>
            <a:chOff x="0" y="0"/>
            <a:chExt cx="1251752" cy="83510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51752" cy="835109"/>
            </a:xfrm>
            <a:custGeom>
              <a:avLst/>
              <a:gdLst/>
              <a:ahLst/>
              <a:cxnLst/>
              <a:rect l="l" t="t" r="r" b="b"/>
              <a:pathLst>
                <a:path w="1251752" h="83510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778990"/>
                  </a:lnTo>
                  <a:cubicBezTo>
                    <a:pt x="1251752" y="793874"/>
                    <a:pt x="1245840" y="808148"/>
                    <a:pt x="1235315" y="818672"/>
                  </a:cubicBezTo>
                  <a:cubicBezTo>
                    <a:pt x="1224791" y="829196"/>
                    <a:pt x="1210517" y="835109"/>
                    <a:pt x="1195634" y="835109"/>
                  </a:cubicBezTo>
                  <a:lnTo>
                    <a:pt x="56119" y="835109"/>
                  </a:lnTo>
                  <a:cubicBezTo>
                    <a:pt x="25125" y="835109"/>
                    <a:pt x="0" y="809984"/>
                    <a:pt x="0" y="778990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5"/>
              <a:stretch>
                <a:fillRect l="-1717" r="-1717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6521241" y="2019735"/>
            <a:ext cx="9286736" cy="6227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5210"/>
              </a:lnSpc>
            </a:pPr>
            <a:r>
              <a:rPr lang="en-US" sz="4236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Relación</a:t>
            </a:r>
            <a:r>
              <a:rPr lang="en-US" sz="4236" b="1" dirty="0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con el </a:t>
            </a:r>
            <a:r>
              <a:rPr lang="en-US" sz="4236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perfil</a:t>
            </a:r>
            <a:r>
              <a:rPr lang="en-US" sz="4236" b="1" dirty="0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de </a:t>
            </a:r>
            <a:r>
              <a:rPr lang="en-US" sz="4236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egreso</a:t>
            </a:r>
            <a:endParaRPr lang="en-US" sz="4236" b="1" dirty="0">
              <a:solidFill>
                <a:srgbClr val="2A3DC7"/>
              </a:solidFill>
              <a:latin typeface="Arial Nova Bold"/>
              <a:ea typeface="Arial Nova Bold"/>
              <a:cs typeface="Arial Nova Bold"/>
              <a:sym typeface="Arial Nova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521241" y="3181233"/>
            <a:ext cx="10090359" cy="17475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455"/>
              </a:lnSpc>
            </a:pP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El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proyecto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Ferreplast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abarca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seis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competencias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del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perfil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de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egreso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: Desarrollo de Software, Bases de Datos, 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Levantamiento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de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Requisitos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,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Gestión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Ágil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(Scrum), Calidad y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Seguridad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, y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Buenas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Prácticas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. El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proyecto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permite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aplicar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estas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competencias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en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un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contexto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real con un </a:t>
            </a:r>
            <a:r>
              <a:rPr lang="en-US" sz="2187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cliente</a:t>
            </a:r>
            <a:r>
              <a:rPr lang="en-US" sz="2187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6521241" y="7697846"/>
            <a:ext cx="7251860" cy="756382"/>
            <a:chOff x="0" y="0"/>
            <a:chExt cx="3554357" cy="37072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Calidad, Seguridad y Buenas Prácticas</a:t>
              </a:r>
            </a:p>
          </p:txBody>
        </p:sp>
      </p:grpSp>
      <p:sp>
        <p:nvSpPr>
          <p:cNvPr id="20" name="Freeform 20"/>
          <p:cNvSpPr/>
          <p:nvPr/>
        </p:nvSpPr>
        <p:spPr>
          <a:xfrm flipH="1">
            <a:off x="15423137" y="-617635"/>
            <a:ext cx="3245157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7" y="0"/>
                </a:moveTo>
                <a:lnTo>
                  <a:pt x="0" y="0"/>
                </a:lnTo>
                <a:lnTo>
                  <a:pt x="0" y="2571787"/>
                </a:lnTo>
                <a:lnTo>
                  <a:pt x="3245157" y="2571787"/>
                </a:lnTo>
                <a:lnTo>
                  <a:pt x="3245157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15423137" y="6231970"/>
            <a:ext cx="4444516" cy="4444516"/>
          </a:xfrm>
          <a:custGeom>
            <a:avLst/>
            <a:gdLst/>
            <a:ahLst/>
            <a:cxnLst/>
            <a:rect l="l" t="t" r="r" b="b"/>
            <a:pathLst>
              <a:path w="4444516" h="4444516">
                <a:moveTo>
                  <a:pt x="0" y="0"/>
                </a:moveTo>
                <a:lnTo>
                  <a:pt x="4444516" y="0"/>
                </a:lnTo>
                <a:lnTo>
                  <a:pt x="4444516" y="4444515"/>
                </a:lnTo>
                <a:lnTo>
                  <a:pt x="0" y="444451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22" name="Group 11">
            <a:extLst>
              <a:ext uri="{FF2B5EF4-FFF2-40B4-BE49-F238E27FC236}">
                <a16:creationId xmlns:a16="http://schemas.microsoft.com/office/drawing/2014/main" id="{1F09F296-FF7D-4CDD-BA94-09F41261565C}"/>
              </a:ext>
            </a:extLst>
          </p:cNvPr>
          <p:cNvGrpSpPr/>
          <p:nvPr/>
        </p:nvGrpSpPr>
        <p:grpSpPr>
          <a:xfrm>
            <a:off x="6521241" y="5740110"/>
            <a:ext cx="7251860" cy="756382"/>
            <a:chOff x="0" y="0"/>
            <a:chExt cx="3554357" cy="370726"/>
          </a:xfrm>
        </p:grpSpPr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DF5DE52F-2B19-4D86-2D3F-AD0E438F64BD}"/>
                </a:ext>
              </a:extLst>
            </p:cNvPr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4" name="TextBox 13">
              <a:extLst>
                <a:ext uri="{FF2B5EF4-FFF2-40B4-BE49-F238E27FC236}">
                  <a16:creationId xmlns:a16="http://schemas.microsoft.com/office/drawing/2014/main" id="{87BCD9F9-6592-2923-8CD7-74F46BC41B52}"/>
                </a:ext>
              </a:extLst>
            </p:cNvPr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Desarrollo de Software y BD</a:t>
              </a:r>
            </a:p>
          </p:txBody>
        </p:sp>
      </p:grpSp>
      <p:grpSp>
        <p:nvGrpSpPr>
          <p:cNvPr id="25" name="Group 14">
            <a:extLst>
              <a:ext uri="{FF2B5EF4-FFF2-40B4-BE49-F238E27FC236}">
                <a16:creationId xmlns:a16="http://schemas.microsoft.com/office/drawing/2014/main" id="{E37C2455-CA20-1243-F015-3FAE04CDB38F}"/>
              </a:ext>
            </a:extLst>
          </p:cNvPr>
          <p:cNvGrpSpPr/>
          <p:nvPr/>
        </p:nvGrpSpPr>
        <p:grpSpPr>
          <a:xfrm>
            <a:off x="6521241" y="6713955"/>
            <a:ext cx="7251860" cy="756382"/>
            <a:chOff x="0" y="0"/>
            <a:chExt cx="3554357" cy="370726"/>
          </a:xfrm>
        </p:grpSpPr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1A238740-C42A-D763-D60F-DC6251995C32}"/>
                </a:ext>
              </a:extLst>
            </p:cNvPr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7" name="TextBox 16">
              <a:extLst>
                <a:ext uri="{FF2B5EF4-FFF2-40B4-BE49-F238E27FC236}">
                  <a16:creationId xmlns:a16="http://schemas.microsoft.com/office/drawing/2014/main" id="{8D29DF9A-6EE2-E49E-DB83-E4D9C43EDEF5}"/>
                </a:ext>
              </a:extLst>
            </p:cNvPr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Requisitos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y </a:t>
              </a: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Gestión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</a:t>
              </a: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Ágil</a:t>
              </a:r>
              <a:endParaRPr lang="en-US" sz="2000" b="1" dirty="0">
                <a:solidFill>
                  <a:srgbClr val="2A3DC7"/>
                </a:solidFill>
                <a:latin typeface="Public Sans Bold"/>
                <a:ea typeface="Public Sans Bold"/>
                <a:cs typeface="Public Sans Bold"/>
                <a:sym typeface="Public Sans Bold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6888" y="2240901"/>
            <a:ext cx="7986915" cy="873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49"/>
              </a:lnSpc>
            </a:pPr>
            <a:r>
              <a:rPr lang="en-US" sz="5649" b="1" dirty="0" err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Intereses</a:t>
            </a:r>
            <a:r>
              <a:rPr lang="en-US" sz="5649" b="1" dirty="0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</a:t>
            </a:r>
            <a:r>
              <a:rPr lang="en-US" sz="5649" b="1" dirty="0" err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Profesionales</a:t>
            </a:r>
            <a:endParaRPr lang="en-US" sz="5649" b="1" dirty="0">
              <a:solidFill>
                <a:srgbClr val="C2D9FF"/>
              </a:solidFill>
              <a:latin typeface="Arial Nova Bold"/>
              <a:ea typeface="Arial Nova Bold"/>
              <a:cs typeface="Arial Nova Bold"/>
              <a:sym typeface="Arial Nova Bold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10351740" y="-884409"/>
            <a:ext cx="14096415" cy="11171409"/>
          </a:xfrm>
          <a:custGeom>
            <a:avLst/>
            <a:gdLst/>
            <a:ahLst/>
            <a:cxnLst/>
            <a:rect l="l" t="t" r="r" b="b"/>
            <a:pathLst>
              <a:path w="14096415" h="11171409">
                <a:moveTo>
                  <a:pt x="0" y="0"/>
                </a:moveTo>
                <a:lnTo>
                  <a:pt x="14096415" y="0"/>
                </a:lnTo>
                <a:lnTo>
                  <a:pt x="14096415" y="11171409"/>
                </a:lnTo>
                <a:lnTo>
                  <a:pt x="0" y="111714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4" name="Group 4"/>
          <p:cNvGrpSpPr/>
          <p:nvPr/>
        </p:nvGrpSpPr>
        <p:grpSpPr>
          <a:xfrm>
            <a:off x="12240748" y="1005798"/>
            <a:ext cx="5018552" cy="8252502"/>
            <a:chOff x="0" y="0"/>
            <a:chExt cx="777505" cy="127852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77505" cy="1278529"/>
            </a:xfrm>
            <a:custGeom>
              <a:avLst/>
              <a:gdLst/>
              <a:ahLst/>
              <a:cxnLst/>
              <a:rect l="l" t="t" r="r" b="b"/>
              <a:pathLst>
                <a:path w="777505" h="1278529">
                  <a:moveTo>
                    <a:pt x="259308" y="19070"/>
                  </a:moveTo>
                  <a:cubicBezTo>
                    <a:pt x="299040" y="7556"/>
                    <a:pt x="344486" y="0"/>
                    <a:pt x="388962" y="0"/>
                  </a:cubicBezTo>
                  <a:cubicBezTo>
                    <a:pt x="433440" y="0"/>
                    <a:pt x="476238" y="6476"/>
                    <a:pt x="515679" y="17990"/>
                  </a:cubicBezTo>
                  <a:cubicBezTo>
                    <a:pt x="516519" y="18350"/>
                    <a:pt x="517358" y="18350"/>
                    <a:pt x="518197" y="18710"/>
                  </a:cubicBezTo>
                  <a:cubicBezTo>
                    <a:pt x="666313" y="64765"/>
                    <a:pt x="775407" y="186379"/>
                    <a:pt x="777505" y="338847"/>
                  </a:cubicBezTo>
                  <a:lnTo>
                    <a:pt x="777505" y="1178256"/>
                  </a:lnTo>
                  <a:cubicBezTo>
                    <a:pt x="777505" y="1204850"/>
                    <a:pt x="766941" y="1230354"/>
                    <a:pt x="748136" y="1249159"/>
                  </a:cubicBezTo>
                  <a:cubicBezTo>
                    <a:pt x="729331" y="1267964"/>
                    <a:pt x="703826" y="1278529"/>
                    <a:pt x="677232" y="1278529"/>
                  </a:cubicBezTo>
                  <a:lnTo>
                    <a:pt x="100273" y="1278529"/>
                  </a:lnTo>
                  <a:cubicBezTo>
                    <a:pt x="73679" y="1278529"/>
                    <a:pt x="48174" y="1267964"/>
                    <a:pt x="29369" y="1249159"/>
                  </a:cubicBezTo>
                  <a:cubicBezTo>
                    <a:pt x="10564" y="1230354"/>
                    <a:pt x="0" y="1204850"/>
                    <a:pt x="0" y="1178256"/>
                  </a:cubicBezTo>
                  <a:lnTo>
                    <a:pt x="0" y="339545"/>
                  </a:lnTo>
                  <a:cubicBezTo>
                    <a:pt x="2098" y="185660"/>
                    <a:pt x="109514" y="64045"/>
                    <a:pt x="259308" y="19070"/>
                  </a:cubicBezTo>
                  <a:lnTo>
                    <a:pt x="259308" y="19070"/>
                  </a:lnTo>
                  <a:close/>
                </a:path>
              </a:pathLst>
            </a:custGeom>
            <a:blipFill>
              <a:blip r:embed="rId3"/>
              <a:stretch>
                <a:fillRect t="-571" b="-571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6888" y="3467100"/>
            <a:ext cx="8857389" cy="24517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Ricardo Ojeda</a:t>
            </a:r>
          </a:p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Desarrollo de software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fullstack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Backend y bases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datos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relacionales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Integración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servicios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APIs</a:t>
            </a:r>
          </a:p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Coordinación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equipo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cliente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Toma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decisiones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técnicas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Experiencia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usuario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final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6888" y="6271260"/>
            <a:ext cx="8857389" cy="2451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Kevin Vivanco</a:t>
            </a:r>
          </a:p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Desarrollo de software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fullstack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Backend y bases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datos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relacionales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Integración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módulos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del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sistema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Autenticación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control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acceso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Aplicación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práctica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conocimientos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—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roles y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permisos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9144000" y="8224375"/>
            <a:ext cx="2702505" cy="2702505"/>
          </a:xfrm>
          <a:custGeom>
            <a:avLst/>
            <a:gdLst/>
            <a:ahLst/>
            <a:cxnLst/>
            <a:rect l="l" t="t" r="r" b="b"/>
            <a:pathLst>
              <a:path w="2702505" h="2702505">
                <a:moveTo>
                  <a:pt x="0" y="0"/>
                </a:moveTo>
                <a:lnTo>
                  <a:pt x="2702505" y="0"/>
                </a:lnTo>
                <a:lnTo>
                  <a:pt x="2702505" y="2702505"/>
                </a:lnTo>
                <a:lnTo>
                  <a:pt x="0" y="27025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1028700" y="-884409"/>
            <a:ext cx="2141965" cy="2141965"/>
          </a:xfrm>
          <a:custGeom>
            <a:avLst/>
            <a:gdLst/>
            <a:ahLst/>
            <a:cxnLst/>
            <a:rect l="l" t="t" r="r" b="b"/>
            <a:pathLst>
              <a:path w="2141965" h="2141965">
                <a:moveTo>
                  <a:pt x="0" y="0"/>
                </a:moveTo>
                <a:lnTo>
                  <a:pt x="2141965" y="0"/>
                </a:lnTo>
                <a:lnTo>
                  <a:pt x="2141965" y="2141965"/>
                </a:lnTo>
                <a:lnTo>
                  <a:pt x="0" y="214196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-6637826" y="-442204"/>
            <a:ext cx="14096415" cy="11171409"/>
          </a:xfrm>
          <a:custGeom>
            <a:avLst/>
            <a:gdLst/>
            <a:ahLst/>
            <a:cxnLst/>
            <a:rect l="l" t="t" r="r" b="b"/>
            <a:pathLst>
              <a:path w="14096415" h="11171409">
                <a:moveTo>
                  <a:pt x="0" y="11171408"/>
                </a:moveTo>
                <a:lnTo>
                  <a:pt x="14096415" y="11171408"/>
                </a:lnTo>
                <a:lnTo>
                  <a:pt x="14096415" y="0"/>
                </a:lnTo>
                <a:lnTo>
                  <a:pt x="0" y="0"/>
                </a:lnTo>
                <a:lnTo>
                  <a:pt x="0" y="11171408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>
            <a:off x="879943" y="1005798"/>
            <a:ext cx="5018552" cy="8252502"/>
            <a:chOff x="0" y="0"/>
            <a:chExt cx="777505" cy="127852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77505" cy="1278529"/>
            </a:xfrm>
            <a:custGeom>
              <a:avLst/>
              <a:gdLst/>
              <a:ahLst/>
              <a:cxnLst/>
              <a:rect l="l" t="t" r="r" b="b"/>
              <a:pathLst>
                <a:path w="777505" h="1278529">
                  <a:moveTo>
                    <a:pt x="259308" y="19070"/>
                  </a:moveTo>
                  <a:cubicBezTo>
                    <a:pt x="299040" y="7556"/>
                    <a:pt x="344486" y="0"/>
                    <a:pt x="388962" y="0"/>
                  </a:cubicBezTo>
                  <a:cubicBezTo>
                    <a:pt x="433440" y="0"/>
                    <a:pt x="476238" y="6476"/>
                    <a:pt x="515679" y="17990"/>
                  </a:cubicBezTo>
                  <a:cubicBezTo>
                    <a:pt x="516519" y="18350"/>
                    <a:pt x="517358" y="18350"/>
                    <a:pt x="518197" y="18710"/>
                  </a:cubicBezTo>
                  <a:cubicBezTo>
                    <a:pt x="666313" y="64765"/>
                    <a:pt x="775407" y="186379"/>
                    <a:pt x="777505" y="338847"/>
                  </a:cubicBezTo>
                  <a:lnTo>
                    <a:pt x="777505" y="1178256"/>
                  </a:lnTo>
                  <a:cubicBezTo>
                    <a:pt x="777505" y="1204850"/>
                    <a:pt x="766941" y="1230354"/>
                    <a:pt x="748136" y="1249159"/>
                  </a:cubicBezTo>
                  <a:cubicBezTo>
                    <a:pt x="729331" y="1267964"/>
                    <a:pt x="703826" y="1278529"/>
                    <a:pt x="677232" y="1278529"/>
                  </a:cubicBezTo>
                  <a:lnTo>
                    <a:pt x="100273" y="1278529"/>
                  </a:lnTo>
                  <a:cubicBezTo>
                    <a:pt x="73679" y="1278529"/>
                    <a:pt x="48174" y="1267964"/>
                    <a:pt x="29369" y="1249159"/>
                  </a:cubicBezTo>
                  <a:cubicBezTo>
                    <a:pt x="10564" y="1230354"/>
                    <a:pt x="0" y="1204850"/>
                    <a:pt x="0" y="1178256"/>
                  </a:cubicBezTo>
                  <a:lnTo>
                    <a:pt x="0" y="339545"/>
                  </a:lnTo>
                  <a:cubicBezTo>
                    <a:pt x="2098" y="185660"/>
                    <a:pt x="109514" y="64045"/>
                    <a:pt x="259308" y="19070"/>
                  </a:cubicBezTo>
                  <a:lnTo>
                    <a:pt x="259308" y="19070"/>
                  </a:lnTo>
                  <a:close/>
                </a:path>
              </a:pathLst>
            </a:custGeom>
            <a:blipFill>
              <a:blip r:embed="rId3"/>
              <a:stretch>
                <a:fillRect t="-571" b="-571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7832324" y="1750024"/>
            <a:ext cx="8732113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829"/>
              </a:lnSpc>
              <a:spcBef>
                <a:spcPct val="0"/>
              </a:spcBef>
            </a:pPr>
            <a:r>
              <a:rPr lang="en-US" sz="5691" b="1" dirty="0" err="1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Factibilidad</a:t>
            </a:r>
            <a:r>
              <a:rPr lang="en-US" sz="5691" b="1" dirty="0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 del </a:t>
            </a:r>
            <a:r>
              <a:rPr lang="en-US" sz="5691" b="1" dirty="0" err="1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proyecto</a:t>
            </a:r>
            <a:endParaRPr lang="en-US" sz="5691" b="1" dirty="0">
              <a:solidFill>
                <a:srgbClr val="2A3DC7"/>
              </a:solidFill>
              <a:latin typeface="Raleway Bold"/>
              <a:ea typeface="Raleway Bold"/>
              <a:cs typeface="Raleway Bold"/>
              <a:sym typeface="Raleway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7848600" y="2983143"/>
            <a:ext cx="8732114" cy="27410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2727"/>
              </a:lnSpc>
            </a:pP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El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proyecto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es viable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cuatro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dimensiones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clave:</a:t>
            </a:r>
          </a:p>
          <a:p>
            <a:pPr marL="0" lvl="0" indent="0" algn="l">
              <a:lnSpc>
                <a:spcPts val="2727"/>
              </a:lnSpc>
            </a:pP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Técnica: Stack familiar (React, Vite,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Supabase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) con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herramientas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modernas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de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fácil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integración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  <a:p>
            <a:pPr marL="0" lvl="0" indent="0" algn="l">
              <a:lnSpc>
                <a:spcPts val="2727"/>
              </a:lnSpc>
            </a:pP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Académica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: Los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requisitos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son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abordables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con las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competencias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adquiridas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la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carrera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  <a:p>
            <a:pPr marL="0" lvl="0" indent="0" algn="l">
              <a:lnSpc>
                <a:spcPts val="2727"/>
              </a:lnSpc>
            </a:pP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Operativa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: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Cliente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real (Erwin Fuentes –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) con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necesidad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concreta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disponibilidad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activa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  <a:p>
            <a:pPr marL="0" lvl="0" indent="0" algn="l">
              <a:lnSpc>
                <a:spcPts val="2727"/>
              </a:lnSpc>
            </a:pP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: Organización con GitHub y Jira  para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trazabilidad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</a:t>
            </a:r>
            <a:r>
              <a:rPr lang="en-US" sz="181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seguimiento</a:t>
            </a:r>
            <a:r>
              <a:rPr lang="en-US" sz="181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7832324" y="6286500"/>
            <a:ext cx="7251860" cy="756382"/>
            <a:chOff x="0" y="0"/>
            <a:chExt cx="3554357" cy="37072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Técnica y Académica confirmadas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832324" y="7277482"/>
            <a:ext cx="7251860" cy="756382"/>
            <a:chOff x="0" y="0"/>
            <a:chExt cx="3554357" cy="37072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Operativa: cliente real activo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832324" y="8268463"/>
            <a:ext cx="7251860" cy="756382"/>
            <a:chOff x="0" y="0"/>
            <a:chExt cx="3554357" cy="37072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Viable en contexto Capstone</a:t>
              </a:r>
            </a:p>
          </p:txBody>
        </p:sp>
      </p:grpSp>
      <p:sp>
        <p:nvSpPr>
          <p:cNvPr id="16" name="Freeform 16"/>
          <p:cNvSpPr/>
          <p:nvPr/>
        </p:nvSpPr>
        <p:spPr>
          <a:xfrm flipH="1" flipV="1">
            <a:off x="15711991" y="0"/>
            <a:ext cx="5005096" cy="5367395"/>
          </a:xfrm>
          <a:custGeom>
            <a:avLst/>
            <a:gdLst/>
            <a:ahLst/>
            <a:cxnLst/>
            <a:rect l="l" t="t" r="r" b="b"/>
            <a:pathLst>
              <a:path w="5005096" h="5367395">
                <a:moveTo>
                  <a:pt x="5005096" y="5367395"/>
                </a:moveTo>
                <a:lnTo>
                  <a:pt x="0" y="5367395"/>
                </a:lnTo>
                <a:lnTo>
                  <a:pt x="0" y="0"/>
                </a:lnTo>
                <a:lnTo>
                  <a:pt x="5005096" y="0"/>
                </a:lnTo>
                <a:lnTo>
                  <a:pt x="5005096" y="5367395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825096" y="2328197"/>
            <a:ext cx="6483940" cy="4536441"/>
            <a:chOff x="0" y="0"/>
            <a:chExt cx="1251752" cy="87577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51752" cy="875779"/>
            </a:xfrm>
            <a:custGeom>
              <a:avLst/>
              <a:gdLst/>
              <a:ahLst/>
              <a:cxnLst/>
              <a:rect l="l" t="t" r="r" b="b"/>
              <a:pathLst>
                <a:path w="1251752" h="87577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9661"/>
                  </a:lnTo>
                  <a:cubicBezTo>
                    <a:pt x="1251752" y="850654"/>
                    <a:pt x="1226627" y="875779"/>
                    <a:pt x="1195634" y="875779"/>
                  </a:cubicBezTo>
                  <a:lnTo>
                    <a:pt x="56119" y="875779"/>
                  </a:lnTo>
                  <a:cubicBezTo>
                    <a:pt x="25125" y="875779"/>
                    <a:pt x="0" y="850654"/>
                    <a:pt x="0" y="81966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2"/>
              <a:stretch>
                <a:fillRect t="-114" b="-114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Freeform 4"/>
          <p:cNvSpPr/>
          <p:nvPr/>
        </p:nvSpPr>
        <p:spPr>
          <a:xfrm flipH="1">
            <a:off x="3622506" y="8832418"/>
            <a:ext cx="3245157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8" y="0"/>
                </a:moveTo>
                <a:lnTo>
                  <a:pt x="0" y="0"/>
                </a:lnTo>
                <a:lnTo>
                  <a:pt x="0" y="2571788"/>
                </a:lnTo>
                <a:lnTo>
                  <a:pt x="3245158" y="2571788"/>
                </a:lnTo>
                <a:lnTo>
                  <a:pt x="3245158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5" name="Group 5"/>
          <p:cNvGrpSpPr/>
          <p:nvPr/>
        </p:nvGrpSpPr>
        <p:grpSpPr>
          <a:xfrm>
            <a:off x="-825096" y="7264753"/>
            <a:ext cx="6483940" cy="4506345"/>
            <a:chOff x="0" y="0"/>
            <a:chExt cx="1251752" cy="8699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51752" cy="869969"/>
            </a:xfrm>
            <a:custGeom>
              <a:avLst/>
              <a:gdLst/>
              <a:ahLst/>
              <a:cxnLst/>
              <a:rect l="l" t="t" r="r" b="b"/>
              <a:pathLst>
                <a:path w="1251752" h="86996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3851"/>
                  </a:lnTo>
                  <a:cubicBezTo>
                    <a:pt x="1251752" y="844844"/>
                    <a:pt x="1226627" y="869969"/>
                    <a:pt x="1195634" y="869969"/>
                  </a:cubicBezTo>
                  <a:lnTo>
                    <a:pt x="56119" y="869969"/>
                  </a:lnTo>
                  <a:cubicBezTo>
                    <a:pt x="25125" y="869969"/>
                    <a:pt x="0" y="844844"/>
                    <a:pt x="0" y="81385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4"/>
              <a:stretch>
                <a:fillRect t="-449" b="-449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825096" y="-2371621"/>
            <a:ext cx="6483940" cy="4325773"/>
            <a:chOff x="0" y="0"/>
            <a:chExt cx="1251752" cy="83510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51752" cy="835109"/>
            </a:xfrm>
            <a:custGeom>
              <a:avLst/>
              <a:gdLst/>
              <a:ahLst/>
              <a:cxnLst/>
              <a:rect l="l" t="t" r="r" b="b"/>
              <a:pathLst>
                <a:path w="1251752" h="83510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778990"/>
                  </a:lnTo>
                  <a:cubicBezTo>
                    <a:pt x="1251752" y="793874"/>
                    <a:pt x="1245840" y="808148"/>
                    <a:pt x="1235315" y="818672"/>
                  </a:cubicBezTo>
                  <a:cubicBezTo>
                    <a:pt x="1224791" y="829196"/>
                    <a:pt x="1210517" y="835109"/>
                    <a:pt x="1195634" y="835109"/>
                  </a:cubicBezTo>
                  <a:lnTo>
                    <a:pt x="56119" y="835109"/>
                  </a:lnTo>
                  <a:cubicBezTo>
                    <a:pt x="25125" y="835109"/>
                    <a:pt x="0" y="809984"/>
                    <a:pt x="0" y="778990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5"/>
              <a:stretch>
                <a:fillRect l="-1717" r="-1717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6867663" y="2658952"/>
            <a:ext cx="8143736" cy="8628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7238"/>
              </a:lnSpc>
            </a:pPr>
            <a:r>
              <a:rPr lang="en-US" sz="5885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Objetivos</a:t>
            </a:r>
            <a:r>
              <a:rPr lang="en-US" sz="5885" b="1" dirty="0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del </a:t>
            </a:r>
            <a:r>
              <a:rPr lang="en-US" sz="5885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proyecto</a:t>
            </a:r>
            <a:endParaRPr lang="en-US" sz="5885" b="1" dirty="0">
              <a:solidFill>
                <a:srgbClr val="2A3DC7"/>
              </a:solidFill>
              <a:latin typeface="Arial Nova Bold"/>
              <a:ea typeface="Arial Nova Bold"/>
              <a:cs typeface="Arial Nova Bold"/>
              <a:sym typeface="Arial Nova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903174" y="3824364"/>
            <a:ext cx="9022626" cy="9376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2521"/>
              </a:lnSpc>
            </a:pP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Desarrollar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una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plataforma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web integral de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ventas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y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gestión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para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Ferreplast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,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que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permita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administrar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productos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,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clientes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,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cotizaciones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,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pedidos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y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procesos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operativos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,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mejorando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la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eficiencia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del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negocio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y la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experiencia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del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usuario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6781800" y="5067869"/>
            <a:ext cx="7251860" cy="872984"/>
            <a:chOff x="0" y="-50199"/>
            <a:chExt cx="3554357" cy="42787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0199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Analizar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</a:t>
              </a: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requisitos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y </a:t>
              </a: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diseñar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</a:t>
              </a: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arquitectura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&amp; BD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781800" y="6161270"/>
            <a:ext cx="7251860" cy="756382"/>
            <a:chOff x="0" y="0"/>
            <a:chExt cx="3554357" cy="37072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Implementar auth, catálogo, carrito y pedidos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781800" y="7152252"/>
            <a:ext cx="7251860" cy="756382"/>
            <a:chOff x="0" y="0"/>
            <a:chExt cx="3554357" cy="37072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Integrar pagos, vistas por rol y validación</a:t>
              </a:r>
            </a:p>
          </p:txBody>
        </p:sp>
      </p:grpSp>
      <p:sp>
        <p:nvSpPr>
          <p:cNvPr id="20" name="Freeform 20"/>
          <p:cNvSpPr/>
          <p:nvPr/>
        </p:nvSpPr>
        <p:spPr>
          <a:xfrm flipH="1">
            <a:off x="15423137" y="-617635"/>
            <a:ext cx="3245157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7" y="0"/>
                </a:moveTo>
                <a:lnTo>
                  <a:pt x="0" y="0"/>
                </a:lnTo>
                <a:lnTo>
                  <a:pt x="0" y="2571787"/>
                </a:lnTo>
                <a:lnTo>
                  <a:pt x="3245157" y="2571787"/>
                </a:lnTo>
                <a:lnTo>
                  <a:pt x="3245157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15423137" y="6231970"/>
            <a:ext cx="4444516" cy="4444516"/>
          </a:xfrm>
          <a:custGeom>
            <a:avLst/>
            <a:gdLst/>
            <a:ahLst/>
            <a:cxnLst/>
            <a:rect l="l" t="t" r="r" b="b"/>
            <a:pathLst>
              <a:path w="4444516" h="4444516">
                <a:moveTo>
                  <a:pt x="0" y="0"/>
                </a:moveTo>
                <a:lnTo>
                  <a:pt x="4444516" y="0"/>
                </a:lnTo>
                <a:lnTo>
                  <a:pt x="4444516" y="4444515"/>
                </a:lnTo>
                <a:lnTo>
                  <a:pt x="0" y="444451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470966" y="-884409"/>
            <a:ext cx="9954375" cy="7888842"/>
          </a:xfrm>
          <a:custGeom>
            <a:avLst/>
            <a:gdLst/>
            <a:ahLst/>
            <a:cxnLst/>
            <a:rect l="l" t="t" r="r" b="b"/>
            <a:pathLst>
              <a:path w="9954375" h="7888842">
                <a:moveTo>
                  <a:pt x="0" y="0"/>
                </a:moveTo>
                <a:lnTo>
                  <a:pt x="9954376" y="0"/>
                </a:lnTo>
                <a:lnTo>
                  <a:pt x="9954376" y="7888842"/>
                </a:lnTo>
                <a:lnTo>
                  <a:pt x="0" y="78888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TextBox 3"/>
          <p:cNvSpPr txBox="1"/>
          <p:nvPr/>
        </p:nvSpPr>
        <p:spPr>
          <a:xfrm>
            <a:off x="2159398" y="2628900"/>
            <a:ext cx="7353300" cy="5395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534"/>
              </a:lnSpc>
            </a:pPr>
            <a:r>
              <a:rPr lang="en-US" sz="3686" b="1" dirty="0" err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Metodología</a:t>
            </a:r>
            <a:r>
              <a:rPr lang="en-US" sz="3686" b="1" dirty="0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de </a:t>
            </a:r>
            <a:r>
              <a:rPr lang="en-US" sz="3686" b="1" dirty="0" err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trabajo</a:t>
            </a:r>
            <a:r>
              <a:rPr lang="en-US" sz="3686" b="1" dirty="0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– Scrum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159398" y="3495229"/>
            <a:ext cx="10934700" cy="42502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ts val="4227"/>
              </a:lnSpc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Planificación</a:t>
            </a:r>
            <a:r>
              <a:rPr lang="en-US" sz="24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→ Sprint → Desarrollo → Sprint → </a:t>
            </a: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Pruebas</a:t>
            </a:r>
            <a:r>
              <a:rPr lang="en-US" sz="24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</a:p>
          <a:p>
            <a:pPr lvl="0" algn="l">
              <a:lnSpc>
                <a:spcPts val="4227"/>
              </a:lnSpc>
              <a:spcBef>
                <a:spcPct val="0"/>
              </a:spcBef>
            </a:pPr>
            <a:r>
              <a:rPr lang="en-US" sz="24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			→ </a:t>
            </a: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Validación</a:t>
            </a:r>
            <a:r>
              <a:rPr lang="en-US" sz="24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→ </a:t>
            </a: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Retroalimentación</a:t>
            </a:r>
            <a:r>
              <a:rPr lang="en-US" sz="24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→ Nuevo Sprint</a:t>
            </a:r>
          </a:p>
          <a:p>
            <a:pPr marL="0" lvl="0" indent="0" algn="l">
              <a:lnSpc>
                <a:spcPts val="4227"/>
              </a:lnSpc>
              <a:spcBef>
                <a:spcPct val="0"/>
              </a:spcBef>
            </a:pPr>
            <a:endParaRPr lang="en-US" sz="2400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342900" lvl="0" indent="-342900" algn="l">
              <a:lnSpc>
                <a:spcPts val="422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Trabajo</a:t>
            </a:r>
            <a:r>
              <a:rPr lang="en-US" sz="24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incremental </a:t>
            </a: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dividido</a:t>
            </a:r>
            <a:r>
              <a:rPr lang="en-US" sz="24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</a:t>
            </a:r>
            <a:r>
              <a:rPr lang="en-US" sz="24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sprints </a:t>
            </a: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cortos</a:t>
            </a:r>
            <a:endParaRPr lang="en-US" sz="2400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342900" lvl="0" indent="-342900" algn="l">
              <a:lnSpc>
                <a:spcPts val="422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Priorización</a:t>
            </a:r>
            <a:r>
              <a:rPr lang="en-US" sz="24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del backlog con el </a:t>
            </a: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cliente</a:t>
            </a:r>
            <a:endParaRPr lang="en-US" sz="2400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342900" lvl="0" indent="-342900" algn="l">
              <a:lnSpc>
                <a:spcPts val="422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Seguimiento</a:t>
            </a:r>
            <a:r>
              <a:rPr lang="en-US" sz="24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continuo de </a:t>
            </a: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avances</a:t>
            </a:r>
            <a:endParaRPr lang="en-US" sz="2400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342900" lvl="0" indent="-342900" algn="l">
              <a:lnSpc>
                <a:spcPts val="422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Validación</a:t>
            </a:r>
            <a:r>
              <a:rPr lang="en-US" sz="24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con Erwin Fuentes (</a:t>
            </a: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</a:t>
            </a:r>
            <a:r>
              <a:rPr lang="en-US" sz="24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)</a:t>
            </a:r>
          </a:p>
          <a:p>
            <a:pPr marL="342900" lvl="0" indent="-342900" algn="l">
              <a:lnSpc>
                <a:spcPts val="422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Mejora</a:t>
            </a:r>
            <a:r>
              <a:rPr lang="en-US" sz="24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continua </a:t>
            </a: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</a:t>
            </a:r>
            <a:r>
              <a:rPr lang="en-US" sz="24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cada</a:t>
            </a:r>
            <a:r>
              <a:rPr lang="en-US" sz="24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24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iteración</a:t>
            </a:r>
            <a:endParaRPr lang="en-US" sz="2400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</p:txBody>
      </p:sp>
      <p:sp>
        <p:nvSpPr>
          <p:cNvPr id="5" name="Freeform 5"/>
          <p:cNvSpPr/>
          <p:nvPr/>
        </p:nvSpPr>
        <p:spPr>
          <a:xfrm rot="-5400000">
            <a:off x="-7060326" y="8175077"/>
            <a:ext cx="10287000" cy="8152447"/>
          </a:xfrm>
          <a:custGeom>
            <a:avLst/>
            <a:gdLst/>
            <a:ahLst/>
            <a:cxnLst/>
            <a:rect l="l" t="t" r="r" b="b"/>
            <a:pathLst>
              <a:path w="10287000" h="8152447">
                <a:moveTo>
                  <a:pt x="0" y="0"/>
                </a:moveTo>
                <a:lnTo>
                  <a:pt x="10287000" y="0"/>
                </a:lnTo>
                <a:lnTo>
                  <a:pt x="10287000" y="8152448"/>
                </a:lnTo>
                <a:lnTo>
                  <a:pt x="0" y="81524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4866307" y="-1103282"/>
            <a:ext cx="3244737" cy="3244737"/>
          </a:xfrm>
          <a:custGeom>
            <a:avLst/>
            <a:gdLst/>
            <a:ahLst/>
            <a:cxnLst/>
            <a:rect l="l" t="t" r="r" b="b"/>
            <a:pathLst>
              <a:path w="3244737" h="3244737">
                <a:moveTo>
                  <a:pt x="0" y="0"/>
                </a:moveTo>
                <a:lnTo>
                  <a:pt x="3244737" y="0"/>
                </a:lnTo>
                <a:lnTo>
                  <a:pt x="3244737" y="3244737"/>
                </a:lnTo>
                <a:lnTo>
                  <a:pt x="0" y="324473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825096" y="2328197"/>
            <a:ext cx="6483940" cy="4536441"/>
            <a:chOff x="0" y="0"/>
            <a:chExt cx="1251752" cy="87577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51752" cy="875779"/>
            </a:xfrm>
            <a:custGeom>
              <a:avLst/>
              <a:gdLst/>
              <a:ahLst/>
              <a:cxnLst/>
              <a:rect l="l" t="t" r="r" b="b"/>
              <a:pathLst>
                <a:path w="1251752" h="87577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9661"/>
                  </a:lnTo>
                  <a:cubicBezTo>
                    <a:pt x="1251752" y="850654"/>
                    <a:pt x="1226627" y="875779"/>
                    <a:pt x="1195634" y="875779"/>
                  </a:cubicBezTo>
                  <a:lnTo>
                    <a:pt x="56119" y="875779"/>
                  </a:lnTo>
                  <a:cubicBezTo>
                    <a:pt x="25125" y="875779"/>
                    <a:pt x="0" y="850654"/>
                    <a:pt x="0" y="81966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2"/>
              <a:stretch>
                <a:fillRect t="-114" b="-114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Freeform 4"/>
          <p:cNvSpPr/>
          <p:nvPr/>
        </p:nvSpPr>
        <p:spPr>
          <a:xfrm flipH="1">
            <a:off x="3622506" y="8832418"/>
            <a:ext cx="3245157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8" y="0"/>
                </a:moveTo>
                <a:lnTo>
                  <a:pt x="0" y="0"/>
                </a:lnTo>
                <a:lnTo>
                  <a:pt x="0" y="2571788"/>
                </a:lnTo>
                <a:lnTo>
                  <a:pt x="3245158" y="2571788"/>
                </a:lnTo>
                <a:lnTo>
                  <a:pt x="3245158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5" name="Group 5"/>
          <p:cNvGrpSpPr/>
          <p:nvPr/>
        </p:nvGrpSpPr>
        <p:grpSpPr>
          <a:xfrm>
            <a:off x="-825096" y="7264753"/>
            <a:ext cx="6483940" cy="4506345"/>
            <a:chOff x="0" y="0"/>
            <a:chExt cx="1251752" cy="8699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51752" cy="869969"/>
            </a:xfrm>
            <a:custGeom>
              <a:avLst/>
              <a:gdLst/>
              <a:ahLst/>
              <a:cxnLst/>
              <a:rect l="l" t="t" r="r" b="b"/>
              <a:pathLst>
                <a:path w="1251752" h="86996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3851"/>
                  </a:lnTo>
                  <a:cubicBezTo>
                    <a:pt x="1251752" y="844844"/>
                    <a:pt x="1226627" y="869969"/>
                    <a:pt x="1195634" y="869969"/>
                  </a:cubicBezTo>
                  <a:lnTo>
                    <a:pt x="56119" y="869969"/>
                  </a:lnTo>
                  <a:cubicBezTo>
                    <a:pt x="25125" y="869969"/>
                    <a:pt x="0" y="844844"/>
                    <a:pt x="0" y="81385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4"/>
              <a:stretch>
                <a:fillRect t="-449" b="-449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825096" y="-2371621"/>
            <a:ext cx="6483940" cy="4325773"/>
            <a:chOff x="0" y="0"/>
            <a:chExt cx="1251752" cy="83510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51752" cy="835109"/>
            </a:xfrm>
            <a:custGeom>
              <a:avLst/>
              <a:gdLst/>
              <a:ahLst/>
              <a:cxnLst/>
              <a:rect l="l" t="t" r="r" b="b"/>
              <a:pathLst>
                <a:path w="1251752" h="83510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778990"/>
                  </a:lnTo>
                  <a:cubicBezTo>
                    <a:pt x="1251752" y="793874"/>
                    <a:pt x="1245840" y="808148"/>
                    <a:pt x="1235315" y="818672"/>
                  </a:cubicBezTo>
                  <a:cubicBezTo>
                    <a:pt x="1224791" y="829196"/>
                    <a:pt x="1210517" y="835109"/>
                    <a:pt x="1195634" y="835109"/>
                  </a:cubicBezTo>
                  <a:lnTo>
                    <a:pt x="56119" y="835109"/>
                  </a:lnTo>
                  <a:cubicBezTo>
                    <a:pt x="25125" y="835109"/>
                    <a:pt x="0" y="809984"/>
                    <a:pt x="0" y="778990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5"/>
              <a:stretch>
                <a:fillRect l="-1717" r="-1717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6872102" y="1762479"/>
            <a:ext cx="7986915" cy="8553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755"/>
              </a:lnSpc>
            </a:pPr>
            <a:r>
              <a:rPr lang="en-US" sz="5492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Herramientas</a:t>
            </a:r>
            <a:r>
              <a:rPr lang="en-US" sz="5492" b="1" dirty="0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de </a:t>
            </a:r>
            <a:r>
              <a:rPr lang="en-US" sz="5492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trabajo</a:t>
            </a:r>
            <a:endParaRPr lang="en-US" sz="5492" b="1" dirty="0">
              <a:solidFill>
                <a:srgbClr val="2A3DC7"/>
              </a:solidFill>
              <a:latin typeface="Arial Nova Bold"/>
              <a:ea typeface="Arial Nova Bold"/>
              <a:cs typeface="Arial Nova Bold"/>
              <a:sym typeface="Arial Nova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872102" y="2883806"/>
            <a:ext cx="10393126" cy="31359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17"/>
              </a:lnSpc>
            </a:pP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El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proyecto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utiliza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 un stack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tecnológico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moderno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 y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accesible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. Las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herramientas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fueron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seleccionadas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por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su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compatibilidad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,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facilidad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 de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integración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 y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alineación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 con las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competencias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adquiridas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durante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 la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carrera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.</a:t>
            </a:r>
          </a:p>
          <a:p>
            <a:pPr marL="800100" lvl="1" indent="-342900">
              <a:lnSpc>
                <a:spcPts val="3117"/>
              </a:lnSpc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Frontend: React + Vite + CSS</a:t>
            </a:r>
          </a:p>
          <a:p>
            <a:pPr marL="800100" lvl="1" indent="-342900">
              <a:lnSpc>
                <a:spcPts val="3117"/>
              </a:lnSpc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Backend/DB: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Supabase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 </a:t>
            </a:r>
          </a:p>
          <a:p>
            <a:pPr marL="800100" lvl="1" indent="-342900">
              <a:lnSpc>
                <a:spcPts val="3117"/>
              </a:lnSpc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Control de </a:t>
            </a:r>
            <a:r>
              <a:rPr lang="en-US" sz="1900" dirty="0" err="1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versiones</a:t>
            </a: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: GitHub + GitHub Desktop</a:t>
            </a:r>
          </a:p>
          <a:p>
            <a:pPr marL="800100" lvl="1" indent="-342900">
              <a:lnSpc>
                <a:spcPts val="3117"/>
              </a:lnSpc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Desarrollo: Visual Studio Code</a:t>
            </a:r>
          </a:p>
          <a:p>
            <a:pPr marL="800100" lvl="1" indent="-342900">
              <a:lnSpc>
                <a:spcPts val="3117"/>
              </a:lnSpc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2A3DC7"/>
                </a:solidFill>
                <a:latin typeface="Arial Nova"/>
                <a:ea typeface="Arial Nova"/>
                <a:cs typeface="Arial Nova"/>
                <a:sym typeface="Arial Nova"/>
              </a:rPr>
              <a:t>Presentación: PowerPoint / Canva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6872102" y="6285747"/>
            <a:ext cx="7251860" cy="756382"/>
            <a:chOff x="0" y="0"/>
            <a:chExt cx="3554357" cy="37072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React · Vite · Tailwind CSS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72102" y="7276729"/>
            <a:ext cx="7251860" cy="756382"/>
            <a:chOff x="0" y="0"/>
            <a:chExt cx="3554357" cy="37072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 dirty="0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Supabase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· GitHub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872102" y="8267710"/>
            <a:ext cx="7251860" cy="756382"/>
            <a:chOff x="0" y="0"/>
            <a:chExt cx="3554357" cy="37072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VS Code · MS Project · Canva</a:t>
              </a:r>
            </a:p>
          </p:txBody>
        </p:sp>
      </p:grpSp>
      <p:sp>
        <p:nvSpPr>
          <p:cNvPr id="20" name="Freeform 20"/>
          <p:cNvSpPr/>
          <p:nvPr/>
        </p:nvSpPr>
        <p:spPr>
          <a:xfrm flipH="1">
            <a:off x="15423137" y="-617635"/>
            <a:ext cx="3245157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7" y="0"/>
                </a:moveTo>
                <a:lnTo>
                  <a:pt x="0" y="0"/>
                </a:lnTo>
                <a:lnTo>
                  <a:pt x="0" y="2571787"/>
                </a:lnTo>
                <a:lnTo>
                  <a:pt x="3245157" y="2571787"/>
                </a:lnTo>
                <a:lnTo>
                  <a:pt x="3245157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15423137" y="6231970"/>
            <a:ext cx="4444516" cy="4444516"/>
          </a:xfrm>
          <a:custGeom>
            <a:avLst/>
            <a:gdLst/>
            <a:ahLst/>
            <a:cxnLst/>
            <a:rect l="l" t="t" r="r" b="b"/>
            <a:pathLst>
              <a:path w="4444516" h="4444516">
                <a:moveTo>
                  <a:pt x="0" y="0"/>
                </a:moveTo>
                <a:lnTo>
                  <a:pt x="4444516" y="0"/>
                </a:lnTo>
                <a:lnTo>
                  <a:pt x="4444516" y="4444515"/>
                </a:lnTo>
                <a:lnTo>
                  <a:pt x="0" y="444451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8500" y="723900"/>
            <a:ext cx="7872851" cy="9474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7287"/>
              </a:lnSpc>
            </a:pPr>
            <a:r>
              <a:rPr lang="en-US" sz="8474" b="1">
                <a:solidFill>
                  <a:srgbClr val="FFFF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Plan de trabajo</a:t>
            </a:r>
          </a:p>
        </p:txBody>
      </p:sp>
      <p:sp>
        <p:nvSpPr>
          <p:cNvPr id="3" name="Freeform 3"/>
          <p:cNvSpPr/>
          <p:nvPr/>
        </p:nvSpPr>
        <p:spPr>
          <a:xfrm flipH="1">
            <a:off x="8651351" y="-316837"/>
            <a:ext cx="10183529" cy="10920675"/>
          </a:xfrm>
          <a:custGeom>
            <a:avLst/>
            <a:gdLst/>
            <a:ahLst/>
            <a:cxnLst/>
            <a:rect l="l" t="t" r="r" b="b"/>
            <a:pathLst>
              <a:path w="10183529" h="10920675">
                <a:moveTo>
                  <a:pt x="10183529" y="0"/>
                </a:moveTo>
                <a:lnTo>
                  <a:pt x="0" y="0"/>
                </a:lnTo>
                <a:lnTo>
                  <a:pt x="0" y="10920674"/>
                </a:lnTo>
                <a:lnTo>
                  <a:pt x="10183529" y="10920674"/>
                </a:lnTo>
                <a:lnTo>
                  <a:pt x="10183529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C82582-D1BB-020A-3108-CC84ED3FA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3625" y="1900725"/>
            <a:ext cx="12980750" cy="76623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3622506" y="8832418"/>
            <a:ext cx="3245157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8" y="0"/>
                </a:moveTo>
                <a:lnTo>
                  <a:pt x="0" y="0"/>
                </a:lnTo>
                <a:lnTo>
                  <a:pt x="0" y="2571788"/>
                </a:lnTo>
                <a:lnTo>
                  <a:pt x="3245158" y="2571788"/>
                </a:lnTo>
                <a:lnTo>
                  <a:pt x="3245158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>
            <a:off x="0" y="2384152"/>
            <a:ext cx="6483940" cy="4325773"/>
            <a:chOff x="0" y="0"/>
            <a:chExt cx="1251752" cy="83510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1752" cy="835109"/>
            </a:xfrm>
            <a:custGeom>
              <a:avLst/>
              <a:gdLst/>
              <a:ahLst/>
              <a:cxnLst/>
              <a:rect l="l" t="t" r="r" b="b"/>
              <a:pathLst>
                <a:path w="1251752" h="83510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778990"/>
                  </a:lnTo>
                  <a:cubicBezTo>
                    <a:pt x="1251752" y="793874"/>
                    <a:pt x="1245840" y="808148"/>
                    <a:pt x="1235315" y="818672"/>
                  </a:cubicBezTo>
                  <a:cubicBezTo>
                    <a:pt x="1224791" y="829196"/>
                    <a:pt x="1210517" y="835109"/>
                    <a:pt x="1195634" y="835109"/>
                  </a:cubicBezTo>
                  <a:lnTo>
                    <a:pt x="56119" y="835109"/>
                  </a:lnTo>
                  <a:cubicBezTo>
                    <a:pt x="25125" y="835109"/>
                    <a:pt x="0" y="809984"/>
                    <a:pt x="0" y="778990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3"/>
              <a:stretch>
                <a:fillRect r="-14777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058025" y="4758867"/>
            <a:ext cx="7251860" cy="756382"/>
            <a:chOff x="0" y="0"/>
            <a:chExt cx="3554357" cy="37072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GitHub · Commits · Jira · MS Project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058025" y="5749848"/>
            <a:ext cx="7251860" cy="756382"/>
            <a:chOff x="0" y="0"/>
            <a:chExt cx="3554357" cy="37072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Documentación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· BD · </a:t>
              </a: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Capturas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· </a:t>
              </a: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Pruebas</a:t>
              </a:r>
              <a:endParaRPr lang="en-US" sz="2000" b="1" dirty="0">
                <a:solidFill>
                  <a:srgbClr val="2A3DC7"/>
                </a:solidFill>
                <a:latin typeface="Public Sans Bold"/>
                <a:ea typeface="Public Sans Bold"/>
                <a:cs typeface="Public Sans Bold"/>
                <a:sym typeface="Public Sans Bold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058025" y="6740830"/>
            <a:ext cx="7251860" cy="756382"/>
            <a:chOff x="0" y="0"/>
            <a:chExt cx="3554357" cy="37072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Validación cliente · Plataforma funcional</a:t>
              </a:r>
            </a:p>
          </p:txBody>
        </p:sp>
      </p:grpSp>
      <p:sp>
        <p:nvSpPr>
          <p:cNvPr id="14" name="Freeform 14"/>
          <p:cNvSpPr/>
          <p:nvPr/>
        </p:nvSpPr>
        <p:spPr>
          <a:xfrm flipH="1">
            <a:off x="15423137" y="-617635"/>
            <a:ext cx="3245157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7" y="0"/>
                </a:moveTo>
                <a:lnTo>
                  <a:pt x="0" y="0"/>
                </a:lnTo>
                <a:lnTo>
                  <a:pt x="0" y="2571787"/>
                </a:lnTo>
                <a:lnTo>
                  <a:pt x="3245157" y="2571787"/>
                </a:lnTo>
                <a:lnTo>
                  <a:pt x="3245157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5423137" y="6231970"/>
            <a:ext cx="4444516" cy="4444516"/>
          </a:xfrm>
          <a:custGeom>
            <a:avLst/>
            <a:gdLst/>
            <a:ahLst/>
            <a:cxnLst/>
            <a:rect l="l" t="t" r="r" b="b"/>
            <a:pathLst>
              <a:path w="4444516" h="4444516">
                <a:moveTo>
                  <a:pt x="0" y="0"/>
                </a:moveTo>
                <a:lnTo>
                  <a:pt x="4444516" y="0"/>
                </a:lnTo>
                <a:lnTo>
                  <a:pt x="4444516" y="4444515"/>
                </a:lnTo>
                <a:lnTo>
                  <a:pt x="0" y="444451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6" name="TextBox 16"/>
          <p:cNvSpPr txBox="1"/>
          <p:nvPr/>
        </p:nvSpPr>
        <p:spPr>
          <a:xfrm>
            <a:off x="7086600" y="1954152"/>
            <a:ext cx="8677136" cy="8260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900"/>
              </a:lnSpc>
            </a:pPr>
            <a:r>
              <a:rPr lang="en-US" sz="5610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Evidencias</a:t>
            </a:r>
            <a:r>
              <a:rPr lang="en-US" sz="5610" b="1" dirty="0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del </a:t>
            </a:r>
            <a:r>
              <a:rPr lang="en-US" sz="5610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proyecto</a:t>
            </a:r>
            <a:endParaRPr lang="en-US" sz="5610" b="1" dirty="0">
              <a:solidFill>
                <a:srgbClr val="2A3DC7"/>
              </a:solidFill>
              <a:latin typeface="Arial Nova Bold"/>
              <a:ea typeface="Arial Nova Bold"/>
              <a:cs typeface="Arial Nova Bold"/>
              <a:sym typeface="Arial Nova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7086600" y="3142412"/>
            <a:ext cx="8370026" cy="1254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521"/>
              </a:lnSpc>
            </a:pP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Las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evidencias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permiten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demostrar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el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avance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,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trazabilidad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,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funcionamiento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y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cumplimiento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de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los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objetivos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del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proyecto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Ferreplast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. A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continuación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se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listan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los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principales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artefactos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y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registros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generados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durante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el </a:t>
            </a:r>
            <a:r>
              <a:rPr lang="en-US" sz="1900" dirty="0" err="1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desarrollo</a:t>
            </a:r>
            <a:r>
              <a:rPr lang="en-US" sz="1900" dirty="0">
                <a:solidFill>
                  <a:srgbClr val="2A3DC7"/>
                </a:solidFill>
                <a:latin typeface="Public Sans"/>
                <a:ea typeface="Public Sans"/>
                <a:cs typeface="Public Sans"/>
                <a:sym typeface="Public Sans"/>
              </a:rPr>
              <a:t> del Capstone APT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328927" y="-884409"/>
            <a:ext cx="14096415" cy="11171409"/>
          </a:xfrm>
          <a:custGeom>
            <a:avLst/>
            <a:gdLst/>
            <a:ahLst/>
            <a:cxnLst/>
            <a:rect l="l" t="t" r="r" b="b"/>
            <a:pathLst>
              <a:path w="14096415" h="11171409">
                <a:moveTo>
                  <a:pt x="0" y="0"/>
                </a:moveTo>
                <a:lnTo>
                  <a:pt x="14096415" y="0"/>
                </a:lnTo>
                <a:lnTo>
                  <a:pt x="14096415" y="11171409"/>
                </a:lnTo>
                <a:lnTo>
                  <a:pt x="0" y="111714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5400000">
            <a:off x="-7696776" y="9201190"/>
            <a:ext cx="10287000" cy="8152448"/>
          </a:xfrm>
          <a:custGeom>
            <a:avLst/>
            <a:gdLst/>
            <a:ahLst/>
            <a:cxnLst/>
            <a:rect l="l" t="t" r="r" b="b"/>
            <a:pathLst>
              <a:path w="10287000" h="8152448">
                <a:moveTo>
                  <a:pt x="0" y="0"/>
                </a:moveTo>
                <a:lnTo>
                  <a:pt x="10287000" y="0"/>
                </a:lnTo>
                <a:lnTo>
                  <a:pt x="10287000" y="8152447"/>
                </a:lnTo>
                <a:lnTo>
                  <a:pt x="0" y="815244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4876800" y="-1622369"/>
            <a:ext cx="3244737" cy="3244737"/>
          </a:xfrm>
          <a:custGeom>
            <a:avLst/>
            <a:gdLst/>
            <a:ahLst/>
            <a:cxnLst/>
            <a:rect l="l" t="t" r="r" b="b"/>
            <a:pathLst>
              <a:path w="3244737" h="3244737">
                <a:moveTo>
                  <a:pt x="0" y="0"/>
                </a:moveTo>
                <a:lnTo>
                  <a:pt x="3244737" y="0"/>
                </a:lnTo>
                <a:lnTo>
                  <a:pt x="3244737" y="3244737"/>
                </a:lnTo>
                <a:lnTo>
                  <a:pt x="0" y="324473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5" name="Group 5"/>
          <p:cNvGrpSpPr/>
          <p:nvPr/>
        </p:nvGrpSpPr>
        <p:grpSpPr>
          <a:xfrm>
            <a:off x="4672407" y="3077165"/>
            <a:ext cx="9313040" cy="6213213"/>
            <a:chOff x="0" y="0"/>
            <a:chExt cx="1251752" cy="83510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51752" cy="835109"/>
            </a:xfrm>
            <a:custGeom>
              <a:avLst/>
              <a:gdLst/>
              <a:ahLst/>
              <a:cxnLst/>
              <a:rect l="l" t="t" r="r" b="b"/>
              <a:pathLst>
                <a:path w="1251752" h="835109">
                  <a:moveTo>
                    <a:pt x="39071" y="0"/>
                  </a:moveTo>
                  <a:lnTo>
                    <a:pt x="1212681" y="0"/>
                  </a:lnTo>
                  <a:cubicBezTo>
                    <a:pt x="1223043" y="0"/>
                    <a:pt x="1232981" y="4116"/>
                    <a:pt x="1240309" y="11444"/>
                  </a:cubicBezTo>
                  <a:cubicBezTo>
                    <a:pt x="1247636" y="18771"/>
                    <a:pt x="1251752" y="28709"/>
                    <a:pt x="1251752" y="39071"/>
                  </a:cubicBezTo>
                  <a:lnTo>
                    <a:pt x="1251752" y="796038"/>
                  </a:lnTo>
                  <a:cubicBezTo>
                    <a:pt x="1251752" y="806400"/>
                    <a:pt x="1247636" y="816338"/>
                    <a:pt x="1240309" y="823665"/>
                  </a:cubicBezTo>
                  <a:cubicBezTo>
                    <a:pt x="1232981" y="830993"/>
                    <a:pt x="1223043" y="835109"/>
                    <a:pt x="1212681" y="835109"/>
                  </a:cubicBezTo>
                  <a:lnTo>
                    <a:pt x="39071" y="835109"/>
                  </a:lnTo>
                  <a:cubicBezTo>
                    <a:pt x="28709" y="835109"/>
                    <a:pt x="18771" y="830993"/>
                    <a:pt x="11444" y="823665"/>
                  </a:cubicBezTo>
                  <a:cubicBezTo>
                    <a:pt x="4116" y="816338"/>
                    <a:pt x="0" y="806400"/>
                    <a:pt x="0" y="796038"/>
                  </a:cubicBezTo>
                  <a:lnTo>
                    <a:pt x="0" y="39071"/>
                  </a:lnTo>
                  <a:cubicBezTo>
                    <a:pt x="0" y="28709"/>
                    <a:pt x="4116" y="18771"/>
                    <a:pt x="11444" y="11444"/>
                  </a:cubicBezTo>
                  <a:cubicBezTo>
                    <a:pt x="18771" y="4116"/>
                    <a:pt x="28709" y="0"/>
                    <a:pt x="39071" y="0"/>
                  </a:cubicBezTo>
                  <a:close/>
                </a:path>
              </a:pathLst>
            </a:custGeom>
            <a:blipFill>
              <a:blip r:embed="rId5"/>
              <a:stretch>
                <a:fillRect b="-15590"/>
              </a:stretch>
            </a:blipFill>
          </p:spPr>
          <p:txBody>
            <a:bodyPr/>
            <a:lstStyle/>
            <a:p>
              <a:endParaRPr lang="es-CL" dirty="0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66800" y="1790700"/>
            <a:ext cx="6933889" cy="1099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218"/>
              </a:lnSpc>
            </a:pPr>
            <a:r>
              <a:rPr lang="en-US" sz="7400" b="1" dirty="0" err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Matriz</a:t>
            </a:r>
            <a:r>
              <a:rPr lang="en-US" sz="7400" b="1" dirty="0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RACI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15373114" y="-257194"/>
            <a:ext cx="3245157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8" y="0"/>
                </a:moveTo>
                <a:lnTo>
                  <a:pt x="0" y="0"/>
                </a:lnTo>
                <a:lnTo>
                  <a:pt x="0" y="2571788"/>
                </a:lnTo>
                <a:lnTo>
                  <a:pt x="3245158" y="2571788"/>
                </a:lnTo>
                <a:lnTo>
                  <a:pt x="3245158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>
            <a:off x="2860428" y="1838316"/>
            <a:ext cx="14398872" cy="7994077"/>
            <a:chOff x="0" y="0"/>
            <a:chExt cx="3160507" cy="175467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160507" cy="1754675"/>
            </a:xfrm>
            <a:custGeom>
              <a:avLst/>
              <a:gdLst/>
              <a:ahLst/>
              <a:cxnLst/>
              <a:rect l="l" t="t" r="r" b="b"/>
              <a:pathLst>
                <a:path w="3160507" h="1754675">
                  <a:moveTo>
                    <a:pt x="0" y="0"/>
                  </a:moveTo>
                  <a:lnTo>
                    <a:pt x="3160507" y="0"/>
                  </a:lnTo>
                  <a:lnTo>
                    <a:pt x="3160507" y="1754675"/>
                  </a:lnTo>
                  <a:lnTo>
                    <a:pt x="0" y="1754675"/>
                  </a:lnTo>
                  <a:close/>
                </a:path>
              </a:pathLst>
            </a:custGeom>
            <a:blipFill>
              <a:blip r:embed="rId3"/>
              <a:stretch>
                <a:fillRect t="-883" b="-883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Freeform 5"/>
          <p:cNvSpPr/>
          <p:nvPr/>
        </p:nvSpPr>
        <p:spPr>
          <a:xfrm flipH="1">
            <a:off x="-3380381" y="8365532"/>
            <a:ext cx="6150882" cy="6596120"/>
          </a:xfrm>
          <a:custGeom>
            <a:avLst/>
            <a:gdLst/>
            <a:ahLst/>
            <a:cxnLst/>
            <a:rect l="l" t="t" r="r" b="b"/>
            <a:pathLst>
              <a:path w="6150882" h="6596120">
                <a:moveTo>
                  <a:pt x="6150881" y="0"/>
                </a:moveTo>
                <a:lnTo>
                  <a:pt x="0" y="0"/>
                </a:lnTo>
                <a:lnTo>
                  <a:pt x="0" y="6596120"/>
                </a:lnTo>
                <a:lnTo>
                  <a:pt x="6150881" y="6596120"/>
                </a:lnTo>
                <a:lnTo>
                  <a:pt x="6150881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937779" y="266736"/>
            <a:ext cx="5750650" cy="2102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523"/>
              </a:lnSpc>
            </a:pPr>
            <a:r>
              <a:rPr lang="en-US" sz="5021" b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Esquema</a:t>
            </a:r>
          </a:p>
          <a:p>
            <a:pPr marL="0" lvl="0" indent="0" algn="l">
              <a:lnSpc>
                <a:spcPts val="5523"/>
              </a:lnSpc>
            </a:pPr>
            <a:r>
              <a:rPr lang="en-US" sz="5021" b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de Base de</a:t>
            </a:r>
          </a:p>
          <a:p>
            <a:pPr marL="0" lvl="0" indent="0" algn="l">
              <a:lnSpc>
                <a:spcPts val="5523"/>
              </a:lnSpc>
            </a:pPr>
            <a:r>
              <a:rPr lang="en-US" sz="5021" b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Datos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-6637826" y="-442204"/>
            <a:ext cx="14096415" cy="11171409"/>
          </a:xfrm>
          <a:custGeom>
            <a:avLst/>
            <a:gdLst/>
            <a:ahLst/>
            <a:cxnLst/>
            <a:rect l="l" t="t" r="r" b="b"/>
            <a:pathLst>
              <a:path w="14096415" h="11171409">
                <a:moveTo>
                  <a:pt x="0" y="11171408"/>
                </a:moveTo>
                <a:lnTo>
                  <a:pt x="14096415" y="11171408"/>
                </a:lnTo>
                <a:lnTo>
                  <a:pt x="14096415" y="0"/>
                </a:lnTo>
                <a:lnTo>
                  <a:pt x="0" y="0"/>
                </a:lnTo>
                <a:lnTo>
                  <a:pt x="0" y="11171408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>
            <a:off x="879943" y="1005798"/>
            <a:ext cx="5018552" cy="8252502"/>
            <a:chOff x="0" y="0"/>
            <a:chExt cx="777505" cy="127852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77505" cy="1278529"/>
            </a:xfrm>
            <a:custGeom>
              <a:avLst/>
              <a:gdLst/>
              <a:ahLst/>
              <a:cxnLst/>
              <a:rect l="l" t="t" r="r" b="b"/>
              <a:pathLst>
                <a:path w="777505" h="1278529">
                  <a:moveTo>
                    <a:pt x="259308" y="19070"/>
                  </a:moveTo>
                  <a:cubicBezTo>
                    <a:pt x="299040" y="7556"/>
                    <a:pt x="344486" y="0"/>
                    <a:pt x="388962" y="0"/>
                  </a:cubicBezTo>
                  <a:cubicBezTo>
                    <a:pt x="433440" y="0"/>
                    <a:pt x="476238" y="6476"/>
                    <a:pt x="515679" y="17990"/>
                  </a:cubicBezTo>
                  <a:cubicBezTo>
                    <a:pt x="516519" y="18350"/>
                    <a:pt x="517358" y="18350"/>
                    <a:pt x="518197" y="18710"/>
                  </a:cubicBezTo>
                  <a:cubicBezTo>
                    <a:pt x="666313" y="64765"/>
                    <a:pt x="775407" y="186379"/>
                    <a:pt x="777505" y="338847"/>
                  </a:cubicBezTo>
                  <a:lnTo>
                    <a:pt x="777505" y="1178256"/>
                  </a:lnTo>
                  <a:cubicBezTo>
                    <a:pt x="777505" y="1204850"/>
                    <a:pt x="766941" y="1230354"/>
                    <a:pt x="748136" y="1249159"/>
                  </a:cubicBezTo>
                  <a:cubicBezTo>
                    <a:pt x="729331" y="1267964"/>
                    <a:pt x="703826" y="1278529"/>
                    <a:pt x="677232" y="1278529"/>
                  </a:cubicBezTo>
                  <a:lnTo>
                    <a:pt x="100273" y="1278529"/>
                  </a:lnTo>
                  <a:cubicBezTo>
                    <a:pt x="73679" y="1278529"/>
                    <a:pt x="48174" y="1267964"/>
                    <a:pt x="29369" y="1249159"/>
                  </a:cubicBezTo>
                  <a:cubicBezTo>
                    <a:pt x="10564" y="1230354"/>
                    <a:pt x="0" y="1204850"/>
                    <a:pt x="0" y="1178256"/>
                  </a:cubicBezTo>
                  <a:lnTo>
                    <a:pt x="0" y="339545"/>
                  </a:lnTo>
                  <a:cubicBezTo>
                    <a:pt x="2098" y="185660"/>
                    <a:pt x="109514" y="64045"/>
                    <a:pt x="259308" y="19070"/>
                  </a:cubicBezTo>
                  <a:lnTo>
                    <a:pt x="259308" y="19070"/>
                  </a:lnTo>
                  <a:close/>
                </a:path>
              </a:pathLst>
            </a:custGeom>
            <a:blipFill>
              <a:blip r:embed="rId3"/>
              <a:stretch>
                <a:fillRect t="-571" b="-571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460131" y="1527124"/>
            <a:ext cx="8732113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583"/>
              </a:lnSpc>
              <a:spcBef>
                <a:spcPct val="0"/>
              </a:spcBef>
            </a:pPr>
            <a:r>
              <a:rPr lang="en-US" sz="6319" b="1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Requisitos del Sistema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60131" y="3374441"/>
            <a:ext cx="9254439" cy="26460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98"/>
              </a:lnSpc>
            </a:pPr>
            <a:r>
              <a:rPr lang="en-US" sz="179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Funcionales: Registro e inicio de sesión, gestión de usuarios y roles, catálogo de productos, búsqueda y filtros, gestión de productos, carrito de compras, cotizaciones, gestión de pedidos, control de stock, panel de administración, integración de pagos.</a:t>
            </a:r>
          </a:p>
          <a:p>
            <a:pPr marL="0" lvl="0" indent="0" algn="l">
              <a:lnSpc>
                <a:spcPts val="2698"/>
              </a:lnSpc>
            </a:pPr>
            <a:endParaRPr lang="en-US" sz="1798">
              <a:solidFill>
                <a:srgbClr val="2A3DC7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698"/>
              </a:lnSpc>
            </a:pPr>
            <a:r>
              <a:rPr lang="en-US" sz="1798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No funcionales: Seguridad (autenticación JWT), usabilidad intuitiva, rendimiento óptimo, disponibilidad 99%, diseño responsivo, integridad de datos, mantenibilidad del código.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460131" y="6420536"/>
            <a:ext cx="7251860" cy="756382"/>
            <a:chOff x="0" y="0"/>
            <a:chExt cx="3554357" cy="37072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Funcionales: 11 módulos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460131" y="7411518"/>
            <a:ext cx="7251860" cy="756382"/>
            <a:chOff x="0" y="0"/>
            <a:chExt cx="3554357" cy="37072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No funcionales: 7 criterios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8460131" y="8402499"/>
            <a:ext cx="7251860" cy="756382"/>
            <a:chOff x="0" y="0"/>
            <a:chExt cx="3554357" cy="37072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Stack: React + Supabase</a:t>
              </a:r>
            </a:p>
          </p:txBody>
        </p:sp>
      </p:grpSp>
      <p:sp>
        <p:nvSpPr>
          <p:cNvPr id="16" name="Freeform 16"/>
          <p:cNvSpPr/>
          <p:nvPr/>
        </p:nvSpPr>
        <p:spPr>
          <a:xfrm flipH="1" flipV="1">
            <a:off x="15711991" y="0"/>
            <a:ext cx="5005096" cy="5367395"/>
          </a:xfrm>
          <a:custGeom>
            <a:avLst/>
            <a:gdLst/>
            <a:ahLst/>
            <a:cxnLst/>
            <a:rect l="l" t="t" r="r" b="b"/>
            <a:pathLst>
              <a:path w="5005096" h="5367395">
                <a:moveTo>
                  <a:pt x="5005096" y="5367395"/>
                </a:moveTo>
                <a:lnTo>
                  <a:pt x="0" y="5367395"/>
                </a:lnTo>
                <a:lnTo>
                  <a:pt x="0" y="0"/>
                </a:lnTo>
                <a:lnTo>
                  <a:pt x="5005096" y="0"/>
                </a:lnTo>
                <a:lnTo>
                  <a:pt x="5005096" y="5367395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-846309"/>
            <a:ext cx="14096415" cy="11171409"/>
          </a:xfrm>
          <a:custGeom>
            <a:avLst/>
            <a:gdLst/>
            <a:ahLst/>
            <a:cxnLst/>
            <a:rect l="l" t="t" r="r" b="b"/>
            <a:pathLst>
              <a:path w="14096415" h="11171409">
                <a:moveTo>
                  <a:pt x="0" y="0"/>
                </a:moveTo>
                <a:lnTo>
                  <a:pt x="14096415" y="0"/>
                </a:lnTo>
                <a:lnTo>
                  <a:pt x="14096415" y="11171409"/>
                </a:lnTo>
                <a:lnTo>
                  <a:pt x="0" y="111714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>
            <a:off x="7924800" y="8644333"/>
            <a:ext cx="2702505" cy="2702505"/>
          </a:xfrm>
          <a:custGeom>
            <a:avLst/>
            <a:gdLst/>
            <a:ahLst/>
            <a:cxnLst/>
            <a:rect l="l" t="t" r="r" b="b"/>
            <a:pathLst>
              <a:path w="2702505" h="2702505">
                <a:moveTo>
                  <a:pt x="0" y="0"/>
                </a:moveTo>
                <a:lnTo>
                  <a:pt x="2702505" y="0"/>
                </a:lnTo>
                <a:lnTo>
                  <a:pt x="2702505" y="2702505"/>
                </a:lnTo>
                <a:lnTo>
                  <a:pt x="0" y="27025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228600" y="-1109267"/>
            <a:ext cx="2141965" cy="2141965"/>
          </a:xfrm>
          <a:custGeom>
            <a:avLst/>
            <a:gdLst/>
            <a:ahLst/>
            <a:cxnLst/>
            <a:rect l="l" t="t" r="r" b="b"/>
            <a:pathLst>
              <a:path w="2141965" h="2141965">
                <a:moveTo>
                  <a:pt x="0" y="0"/>
                </a:moveTo>
                <a:lnTo>
                  <a:pt x="2141965" y="0"/>
                </a:lnTo>
                <a:lnTo>
                  <a:pt x="2141965" y="2141965"/>
                </a:lnTo>
                <a:lnTo>
                  <a:pt x="0" y="214196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>
            <a:off x="1143000" y="3086100"/>
            <a:ext cx="7760997" cy="4683741"/>
          </a:xfrm>
          <a:custGeom>
            <a:avLst/>
            <a:gdLst/>
            <a:ahLst/>
            <a:cxnLst/>
            <a:rect l="l" t="t" r="r" b="b"/>
            <a:pathLst>
              <a:path w="7760997" h="4683741">
                <a:moveTo>
                  <a:pt x="0" y="0"/>
                </a:moveTo>
                <a:lnTo>
                  <a:pt x="7760998" y="0"/>
                </a:lnTo>
                <a:lnTo>
                  <a:pt x="7760998" y="4683741"/>
                </a:lnTo>
                <a:lnTo>
                  <a:pt x="0" y="46837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0467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9525000" y="3086100"/>
            <a:ext cx="7502857" cy="4683741"/>
          </a:xfrm>
          <a:custGeom>
            <a:avLst/>
            <a:gdLst/>
            <a:ahLst/>
            <a:cxnLst/>
            <a:rect l="l" t="t" r="r" b="b"/>
            <a:pathLst>
              <a:path w="7502857" h="5001905">
                <a:moveTo>
                  <a:pt x="0" y="0"/>
                </a:moveTo>
                <a:lnTo>
                  <a:pt x="7502856" y="0"/>
                </a:lnTo>
                <a:lnTo>
                  <a:pt x="7502856" y="5001904"/>
                </a:lnTo>
                <a:lnTo>
                  <a:pt x="0" y="50019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257175" y="1803996"/>
            <a:ext cx="8541325" cy="9925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252"/>
              </a:lnSpc>
            </a:pPr>
            <a:r>
              <a:rPr lang="en-US" sz="6709" b="1" dirty="0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Mockups </a:t>
            </a:r>
            <a:r>
              <a:rPr lang="en-US" sz="6709" b="1" dirty="0" err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Tentativos</a:t>
            </a:r>
            <a:endParaRPr lang="en-US" sz="6709" b="1" dirty="0">
              <a:solidFill>
                <a:srgbClr val="C2D9FF"/>
              </a:solidFill>
              <a:latin typeface="Arial Nova Bold"/>
              <a:ea typeface="Arial Nova Bold"/>
              <a:cs typeface="Arial Nova Bold"/>
              <a:sym typeface="Arial Nova Bold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12831453" y="4838700"/>
            <a:ext cx="6150882" cy="6596120"/>
          </a:xfrm>
          <a:custGeom>
            <a:avLst/>
            <a:gdLst/>
            <a:ahLst/>
            <a:cxnLst/>
            <a:rect l="l" t="t" r="r" b="b"/>
            <a:pathLst>
              <a:path w="6150882" h="6596120">
                <a:moveTo>
                  <a:pt x="6150882" y="0"/>
                </a:moveTo>
                <a:lnTo>
                  <a:pt x="0" y="0"/>
                </a:lnTo>
                <a:lnTo>
                  <a:pt x="0" y="6596119"/>
                </a:lnTo>
                <a:lnTo>
                  <a:pt x="6150882" y="6596119"/>
                </a:lnTo>
                <a:lnTo>
                  <a:pt x="6150882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>
            <a:off x="14097000" y="266700"/>
            <a:ext cx="4349565" cy="1443466"/>
            <a:chOff x="0" y="0"/>
            <a:chExt cx="5013600" cy="175467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013599" cy="1754675"/>
            </a:xfrm>
            <a:custGeom>
              <a:avLst/>
              <a:gdLst/>
              <a:ahLst/>
              <a:cxnLst/>
              <a:rect l="l" t="t" r="r" b="b"/>
              <a:pathLst>
                <a:path w="5013599" h="1754675">
                  <a:moveTo>
                    <a:pt x="0" y="0"/>
                  </a:moveTo>
                  <a:lnTo>
                    <a:pt x="5013599" y="0"/>
                  </a:lnTo>
                  <a:lnTo>
                    <a:pt x="5013599" y="1754675"/>
                  </a:lnTo>
                  <a:lnTo>
                    <a:pt x="0" y="1754675"/>
                  </a:lnTo>
                  <a:close/>
                </a:path>
              </a:pathLst>
            </a:custGeom>
            <a:blipFill>
              <a:blip r:embed="rId3"/>
              <a:stretch>
                <a:fillRect l="-3337" r="-3337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Freeform 5"/>
          <p:cNvSpPr/>
          <p:nvPr/>
        </p:nvSpPr>
        <p:spPr>
          <a:xfrm flipH="1">
            <a:off x="-2209800" y="-1757420"/>
            <a:ext cx="6150882" cy="6596120"/>
          </a:xfrm>
          <a:custGeom>
            <a:avLst/>
            <a:gdLst/>
            <a:ahLst/>
            <a:cxnLst/>
            <a:rect l="l" t="t" r="r" b="b"/>
            <a:pathLst>
              <a:path w="6150882" h="6596120">
                <a:moveTo>
                  <a:pt x="6150882" y="0"/>
                </a:moveTo>
                <a:lnTo>
                  <a:pt x="0" y="0"/>
                </a:lnTo>
                <a:lnTo>
                  <a:pt x="0" y="6596120"/>
                </a:lnTo>
                <a:lnTo>
                  <a:pt x="6150882" y="6596120"/>
                </a:lnTo>
                <a:lnTo>
                  <a:pt x="6150882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5562600" y="4578197"/>
            <a:ext cx="8007720" cy="20991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Este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proyecto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nos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permite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aplicar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competencias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ingeniería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informática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un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contexto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real,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desarrollando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una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plataforma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web integral para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  <a:p>
            <a:pPr marL="0" lvl="0" indent="0" algn="l">
              <a:lnSpc>
                <a:spcPts val="2847"/>
              </a:lnSpc>
            </a:pP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Aplicamos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metodología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ágil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Scrum,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tecnologías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modernas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como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React, Vite y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Supabase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y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trabajamos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directamente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con el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cliente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Erwin Fuentes para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validar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cada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etapa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del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proceso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0" y="3083815"/>
            <a:ext cx="8007720" cy="1209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593"/>
              </a:lnSpc>
              <a:spcBef>
                <a:spcPct val="0"/>
              </a:spcBef>
            </a:pPr>
            <a:r>
              <a:rPr lang="en-US" sz="7994" b="1" dirty="0" err="1">
                <a:solidFill>
                  <a:srgbClr val="C2D9FF"/>
                </a:solidFill>
                <a:latin typeface="Raleway Bold"/>
                <a:ea typeface="Raleway Bold"/>
                <a:cs typeface="Raleway Bold"/>
                <a:sym typeface="Raleway Bold"/>
              </a:rPr>
              <a:t>Conclusión</a:t>
            </a:r>
            <a:endParaRPr lang="en-US" sz="7994" b="1" dirty="0">
              <a:solidFill>
                <a:srgbClr val="C2D9FF"/>
              </a:solidFill>
              <a:latin typeface="Raleway Bold"/>
              <a:ea typeface="Raleway Bold"/>
              <a:cs typeface="Raleway Bold"/>
              <a:sym typeface="Raleway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5562600" y="7048500"/>
            <a:ext cx="8007720" cy="1746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"De un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catálogo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digital a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una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plataforma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integral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ventas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."</a:t>
            </a:r>
          </a:p>
          <a:p>
            <a:pPr marL="0" lvl="0" indent="0" algn="l">
              <a:lnSpc>
                <a:spcPts val="2847"/>
              </a:lnSpc>
            </a:pP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– Proyecto APT Capstone 2026</a:t>
            </a:r>
          </a:p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Ingeniería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Informática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– Duoc UC Puerto Montt</a:t>
            </a:r>
          </a:p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Ricardo Ojeda · Kevin Vivanco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911</Words>
  <Application>Microsoft Office PowerPoint</Application>
  <PresentationFormat>Custom</PresentationFormat>
  <Paragraphs>103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7" baseType="lpstr">
      <vt:lpstr>Arial Nova Bold</vt:lpstr>
      <vt:lpstr>Raleway Bold</vt:lpstr>
      <vt:lpstr>Public Sans</vt:lpstr>
      <vt:lpstr>Arial</vt:lpstr>
      <vt:lpstr>Montaser Arabic</vt:lpstr>
      <vt:lpstr>Arial Nova</vt:lpstr>
      <vt:lpstr>Wingdings</vt:lpstr>
      <vt:lpstr>Public Sans Bold</vt:lpstr>
      <vt:lpstr>Calibri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Ferreplast Capstone Presentation</dc:title>
  <cp:lastModifiedBy>Kevin Parker</cp:lastModifiedBy>
  <cp:revision>4</cp:revision>
  <dcterms:created xsi:type="dcterms:W3CDTF">2006-08-16T00:00:00Z</dcterms:created>
  <dcterms:modified xsi:type="dcterms:W3CDTF">2026-09-01T13:31:30Z</dcterms:modified>
  <dc:identifier>DAHT6v_ydq4</dc:identifier>
</cp:coreProperties>
</file>